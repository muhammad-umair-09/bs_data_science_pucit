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7" r:id="rId4"/>
    <p:sldId id="286" r:id="rId5"/>
    <p:sldId id="259" r:id="rId6"/>
    <p:sldId id="260" r:id="rId7"/>
    <p:sldId id="267" r:id="rId8"/>
    <p:sldId id="269" r:id="rId9"/>
    <p:sldId id="261" r:id="rId10"/>
    <p:sldId id="287" r:id="rId11"/>
    <p:sldId id="273" r:id="rId12"/>
    <p:sldId id="281" r:id="rId13"/>
    <p:sldId id="274" r:id="rId14"/>
    <p:sldId id="282" r:id="rId15"/>
    <p:sldId id="275" r:id="rId16"/>
    <p:sldId id="283" r:id="rId17"/>
    <p:sldId id="276" r:id="rId18"/>
    <p:sldId id="284" r:id="rId19"/>
    <p:sldId id="277" r:id="rId20"/>
    <p:sldId id="278" r:id="rId21"/>
    <p:sldId id="285" r:id="rId22"/>
    <p:sldId id="264" r:id="rId23"/>
    <p:sldId id="288" r:id="rId24"/>
    <p:sldId id="263" r:id="rId25"/>
  </p:sldIdLst>
  <p:sldSz cx="18288000" cy="10287000"/>
  <p:notesSz cx="6858000" cy="9144000"/>
  <p:embeddedFontLst>
    <p:embeddedFont>
      <p:font typeface="Arial Rounded MT Bold" panose="020F0704030504030204" pitchFamily="3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omic Sans MS" panose="030F0702030302020204" pitchFamily="66" charset="0"/>
      <p:regular r:id="rId32"/>
      <p:bold r:id="rId33"/>
      <p:italic r:id="rId34"/>
      <p:boldItalic r:id="rId35"/>
    </p:embeddedFont>
    <p:embeddedFont>
      <p:font typeface="Glacial Indifference" panose="020B0604020202020204" charset="0"/>
      <p:regular r:id="rId36"/>
    </p:embeddedFont>
    <p:embeddedFont>
      <p:font typeface="Solomon Sans Heavy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763"/>
    <a:srgbClr val="297499"/>
    <a:srgbClr val="4F81BD"/>
    <a:srgbClr val="2962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7" autoAdjust="0"/>
    <p:restoredTop sz="95118" autoAdjust="0"/>
  </p:normalViewPr>
  <p:slideViewPr>
    <p:cSldViewPr>
      <p:cViewPr>
        <p:scale>
          <a:sx n="50" d="100"/>
          <a:sy n="50" d="100"/>
        </p:scale>
        <p:origin x="252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394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C9FC1E-6117-4CCB-ABF6-49B3BC624DE6}"/>
              </a:ext>
            </a:extLst>
          </p:cNvPr>
          <p:cNvSpPr/>
          <p:nvPr/>
        </p:nvSpPr>
        <p:spPr>
          <a:xfrm>
            <a:off x="10778233" y="2400300"/>
            <a:ext cx="7596620" cy="9448800"/>
          </a:xfrm>
          <a:prstGeom prst="rect">
            <a:avLst/>
          </a:prstGeom>
          <a:solidFill>
            <a:srgbClr val="297499"/>
          </a:solidFill>
          <a:ln>
            <a:solidFill>
              <a:srgbClr val="297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524741" y="2088483"/>
            <a:ext cx="7640127" cy="6084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80"/>
              </a:lnSpc>
            </a:pPr>
            <a:r>
              <a:rPr lang="en-US" sz="7900" dirty="0">
                <a:solidFill>
                  <a:srgbClr val="F1FAEE"/>
                </a:solidFill>
                <a:latin typeface="Solomon Sans Heavy"/>
              </a:rPr>
              <a:t>An analysis of procrastination and various related factors among students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349237"/>
            <a:ext cx="7136168" cy="57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38"/>
              </a:lnSpc>
            </a:pPr>
            <a:endParaRPr lang="en-US" sz="3456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777185" y="1233900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DD5D11-3990-4426-87F9-77D8C471AA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657" y="1286873"/>
            <a:ext cx="8697191" cy="8697191"/>
          </a:xfrm>
          <a:prstGeom prst="rect">
            <a:avLst/>
          </a:prstGeom>
        </p:spPr>
      </p:pic>
      <p:grpSp>
        <p:nvGrpSpPr>
          <p:cNvPr id="11" name="Group 21">
            <a:extLst>
              <a:ext uri="{FF2B5EF4-FFF2-40B4-BE49-F238E27FC236}">
                <a16:creationId xmlns:a16="http://schemas.microsoft.com/office/drawing/2014/main" id="{00250033-1AC1-48BD-80AC-C6C7F87358F0}"/>
              </a:ext>
            </a:extLst>
          </p:cNvPr>
          <p:cNvGrpSpPr/>
          <p:nvPr/>
        </p:nvGrpSpPr>
        <p:grpSpPr>
          <a:xfrm>
            <a:off x="653152" y="9582522"/>
            <a:ext cx="575044" cy="94268"/>
            <a:chOff x="0" y="0"/>
            <a:chExt cx="929657" cy="152400"/>
          </a:xfrm>
        </p:grpSpPr>
        <p:sp>
          <p:nvSpPr>
            <p:cNvPr id="12" name="Freeform 22">
              <a:extLst>
                <a:ext uri="{FF2B5EF4-FFF2-40B4-BE49-F238E27FC236}">
                  <a16:creationId xmlns:a16="http://schemas.microsoft.com/office/drawing/2014/main" id="{D3CA020F-80AA-4778-8C81-5C8F49AAC908}"/>
                </a:ext>
              </a:extLst>
            </p:cNvPr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23">
            <a:extLst>
              <a:ext uri="{FF2B5EF4-FFF2-40B4-BE49-F238E27FC236}">
                <a16:creationId xmlns:a16="http://schemas.microsoft.com/office/drawing/2014/main" id="{4E7E7206-94D2-4189-BE59-90B9BDB2607B}"/>
              </a:ext>
            </a:extLst>
          </p:cNvPr>
          <p:cNvGrpSpPr/>
          <p:nvPr/>
        </p:nvGrpSpPr>
        <p:grpSpPr>
          <a:xfrm>
            <a:off x="653152" y="9764360"/>
            <a:ext cx="950592" cy="94268"/>
            <a:chOff x="0" y="0"/>
            <a:chExt cx="1536796" cy="152400"/>
          </a:xfrm>
        </p:grpSpPr>
        <p:sp>
          <p:nvSpPr>
            <p:cNvPr id="14" name="Freeform 24">
              <a:extLst>
                <a:ext uri="{FF2B5EF4-FFF2-40B4-BE49-F238E27FC236}">
                  <a16:creationId xmlns:a16="http://schemas.microsoft.com/office/drawing/2014/main" id="{06D54274-456F-4B9F-884C-D7F182734D11}"/>
                </a:ext>
              </a:extLst>
            </p:cNvPr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5840180" y="112230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5189111" y="-4076700"/>
            <a:ext cx="7909777" cy="12052432"/>
            <a:chOff x="0" y="0"/>
            <a:chExt cx="2462877" cy="3752780"/>
          </a:xfrm>
          <a:solidFill>
            <a:srgbClr val="296283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462877" cy="3752780"/>
            </a:xfrm>
            <a:custGeom>
              <a:avLst/>
              <a:gdLst/>
              <a:ahLst/>
              <a:cxnLst/>
              <a:rect l="l" t="t" r="r" b="b"/>
              <a:pathLst>
                <a:path w="2462877" h="3752780">
                  <a:moveTo>
                    <a:pt x="0" y="0"/>
                  </a:moveTo>
                  <a:lnTo>
                    <a:pt x="2462877" y="0"/>
                  </a:lnTo>
                  <a:lnTo>
                    <a:pt x="2462877" y="3752780"/>
                  </a:lnTo>
                  <a:lnTo>
                    <a:pt x="0" y="375278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8937233"/>
            <a:ext cx="575044" cy="94268"/>
            <a:chOff x="0" y="0"/>
            <a:chExt cx="929657" cy="15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9164032"/>
            <a:ext cx="950592" cy="94268"/>
            <a:chOff x="0" y="0"/>
            <a:chExt cx="1536796" cy="152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FD4D6C29-7020-4D62-A378-89BD5C667639}"/>
              </a:ext>
            </a:extLst>
          </p:cNvPr>
          <p:cNvSpPr txBox="1"/>
          <p:nvPr/>
        </p:nvSpPr>
        <p:spPr>
          <a:xfrm>
            <a:off x="6198596" y="746374"/>
            <a:ext cx="8317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2"/>
                </a:solidFill>
                <a:latin typeface="Arial Rounded MT Bold" panose="020F0704030504030204" pitchFamily="34" charset="0"/>
              </a:rPr>
              <a:t>Group Members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7316B4-E281-439B-834A-CBA40AF042FA}"/>
              </a:ext>
            </a:extLst>
          </p:cNvPr>
          <p:cNvSpPr/>
          <p:nvPr/>
        </p:nvSpPr>
        <p:spPr>
          <a:xfrm>
            <a:off x="6552471" y="2597937"/>
            <a:ext cx="5183058" cy="923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Glacial Indifference" panose="020B0604020202020204" charset="0"/>
              </a:rPr>
              <a:t>Abdullah Ghalib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F81BFB-DC56-46B5-8346-A36846B4D94D}"/>
              </a:ext>
            </a:extLst>
          </p:cNvPr>
          <p:cNvSpPr/>
          <p:nvPr/>
        </p:nvSpPr>
        <p:spPr>
          <a:xfrm>
            <a:off x="6486044" y="3892624"/>
            <a:ext cx="5183058" cy="923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bg1"/>
                </a:solidFill>
                <a:latin typeface="Glacial Indifference" panose="020B0604020202020204" charset="0"/>
                <a:cs typeface="Times New Roman" panose="02020603050405020304" pitchFamily="18" charset="0"/>
              </a:rPr>
              <a:t>Kaneez</a:t>
            </a:r>
            <a:r>
              <a:rPr lang="en-US" sz="4400" b="1" dirty="0">
                <a:solidFill>
                  <a:schemeClr val="bg1"/>
                </a:solidFill>
                <a:latin typeface="Glacial Indifference" panose="020B0604020202020204" charset="0"/>
                <a:cs typeface="Times New Roman" panose="02020603050405020304" pitchFamily="18" charset="0"/>
              </a:rPr>
              <a:t> Fatima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E0D74F-2D17-49F9-A944-B6D8D0B8DE43}"/>
              </a:ext>
            </a:extLst>
          </p:cNvPr>
          <p:cNvSpPr/>
          <p:nvPr/>
        </p:nvSpPr>
        <p:spPr>
          <a:xfrm>
            <a:off x="6466166" y="6648388"/>
            <a:ext cx="5183058" cy="923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Glacial Indifference" panose="020B0604020202020204" charset="0"/>
              </a:rPr>
              <a:t>Ammar Siddique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A0AD33E-1858-4BF4-AA4B-D199E2F050F3}"/>
              </a:ext>
            </a:extLst>
          </p:cNvPr>
          <p:cNvSpPr/>
          <p:nvPr/>
        </p:nvSpPr>
        <p:spPr>
          <a:xfrm>
            <a:off x="6552471" y="5352311"/>
            <a:ext cx="5183058" cy="92333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 err="1">
                <a:solidFill>
                  <a:schemeClr val="bg1"/>
                </a:solidFill>
                <a:latin typeface="Glacial Indifference" panose="020B0604020202020204" charset="0"/>
              </a:rPr>
              <a:t>Zohha</a:t>
            </a:r>
            <a:r>
              <a:rPr lang="en-US" sz="4400" b="1" dirty="0">
                <a:solidFill>
                  <a:schemeClr val="bg1"/>
                </a:solidFill>
                <a:latin typeface="Glacial Indifference" panose="020B0604020202020204" charset="0"/>
              </a:rPr>
              <a:t> Azhar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9027" y="1785059"/>
            <a:ext cx="6949973" cy="6274881"/>
            <a:chOff x="0" y="0"/>
            <a:chExt cx="2803077" cy="197327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3077" cy="1973271"/>
            </a:xfrm>
            <a:custGeom>
              <a:avLst/>
              <a:gdLst/>
              <a:ahLst/>
              <a:cxnLst/>
              <a:rect l="l" t="t" r="r" b="b"/>
              <a:pathLst>
                <a:path w="2803077" h="1973271">
                  <a:moveTo>
                    <a:pt x="0" y="0"/>
                  </a:moveTo>
                  <a:lnTo>
                    <a:pt x="2803077" y="0"/>
                  </a:lnTo>
                  <a:lnTo>
                    <a:pt x="2803077" y="1973271"/>
                  </a:lnTo>
                  <a:lnTo>
                    <a:pt x="0" y="1973271"/>
                  </a:lnTo>
                  <a:close/>
                </a:path>
              </a:pathLst>
            </a:cu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Freeform 6"/>
          <p:cNvSpPr/>
          <p:nvPr/>
        </p:nvSpPr>
        <p:spPr>
          <a:xfrm rot="-5338997">
            <a:off x="577689" y="4261864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09600" y="447266"/>
            <a:ext cx="7247061" cy="100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94"/>
              </a:lnSpc>
              <a:spcBef>
                <a:spcPct val="0"/>
              </a:spcBef>
            </a:pPr>
            <a:r>
              <a:rPr lang="en-US" sz="6912" u="none" dirty="0">
                <a:solidFill>
                  <a:srgbClr val="F1FAEE"/>
                </a:solidFill>
                <a:latin typeface="Solomon Sans Heavy"/>
              </a:rPr>
              <a:t>Our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33961" y="1670544"/>
            <a:ext cx="6202850" cy="1015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7"/>
              </a:lnSpc>
            </a:pPr>
            <a:r>
              <a:rPr lang="en-US" sz="2962" b="1" dirty="0">
                <a:solidFill>
                  <a:srgbClr val="F1FAEE"/>
                </a:solidFill>
                <a:latin typeface="Glacial Indifference"/>
              </a:rPr>
              <a:t>Factors Analysis:</a:t>
            </a:r>
          </a:p>
          <a:p>
            <a:pPr>
              <a:lnSpc>
                <a:spcPts val="4147"/>
              </a:lnSpc>
            </a:pPr>
            <a:endParaRPr lang="en-US" sz="2962" b="1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07457" y="3339361"/>
            <a:ext cx="6202850" cy="50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7"/>
              </a:lnSpc>
            </a:pPr>
            <a:r>
              <a:rPr lang="en-US" sz="2962" b="1" dirty="0">
                <a:solidFill>
                  <a:srgbClr val="F1FAEE"/>
                </a:solidFill>
                <a:latin typeface="Glacial Indifference"/>
              </a:rPr>
              <a:t>Variation Identification: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85554" y="4897043"/>
            <a:ext cx="6202850" cy="50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7"/>
              </a:lnSpc>
            </a:pPr>
            <a:r>
              <a:rPr lang="en-US" sz="2962" b="1" dirty="0">
                <a:solidFill>
                  <a:srgbClr val="F1FAEE"/>
                </a:solidFill>
                <a:latin typeface="Glacial Indifference"/>
              </a:rPr>
              <a:t>Student-Centric Insights: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07457" y="6725486"/>
            <a:ext cx="6202850" cy="505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47"/>
              </a:lnSpc>
            </a:pPr>
            <a:r>
              <a:rPr lang="en-US" sz="2962" b="1" dirty="0">
                <a:solidFill>
                  <a:srgbClr val="F1FAEE"/>
                </a:solidFill>
                <a:latin typeface="Glacial Indifference"/>
              </a:rPr>
              <a:t>Actionable Recommendations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63236" y="1802640"/>
            <a:ext cx="295937" cy="295937"/>
            <a:chOff x="0" y="0"/>
            <a:chExt cx="1913890" cy="191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63236" y="3444281"/>
            <a:ext cx="295937" cy="295937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63235" y="5143217"/>
            <a:ext cx="295937" cy="295937"/>
            <a:chOff x="0" y="0"/>
            <a:chExt cx="1913890" cy="191389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63234" y="6874116"/>
            <a:ext cx="295937" cy="295937"/>
            <a:chOff x="0" y="0"/>
            <a:chExt cx="1913890" cy="19138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Freeform 20"/>
          <p:cNvSpPr/>
          <p:nvPr/>
        </p:nvSpPr>
        <p:spPr>
          <a:xfrm rot="5400000">
            <a:off x="15840180" y="112230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1028700" y="8893139"/>
            <a:ext cx="575044" cy="94268"/>
            <a:chOff x="0" y="0"/>
            <a:chExt cx="929657" cy="152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8700" y="9164032"/>
            <a:ext cx="950592" cy="94268"/>
            <a:chOff x="0" y="0"/>
            <a:chExt cx="1536796" cy="152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2FB05F06-D8B2-4AAB-B62F-AB6BC1D01996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3" t="6189" r="6099" b="8204"/>
          <a:stretch/>
        </p:blipFill>
        <p:spPr>
          <a:xfrm>
            <a:off x="841276" y="2160073"/>
            <a:ext cx="6783708" cy="627488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6623CD4-54C5-4D7F-937C-27CBBAC5D7C1}"/>
              </a:ext>
            </a:extLst>
          </p:cNvPr>
          <p:cNvSpPr txBox="1"/>
          <p:nvPr/>
        </p:nvSpPr>
        <p:spPr>
          <a:xfrm>
            <a:off x="10185554" y="2148477"/>
            <a:ext cx="62247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Investigating diverse factors contributing to student procrastination.</a:t>
            </a:r>
            <a:r>
              <a:rPr lang="en-US" sz="2800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964DC7-1031-4BDB-AF30-9BDA4FB646D5}"/>
              </a:ext>
            </a:extLst>
          </p:cNvPr>
          <p:cNvSpPr txBox="1"/>
          <p:nvPr/>
        </p:nvSpPr>
        <p:spPr>
          <a:xfrm>
            <a:off x="10059173" y="3827371"/>
            <a:ext cx="62028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Pinpointing key variations in procrastination triggers and behaviors.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ABC278-FEA1-478C-9E44-8FAFFFDE92FD}"/>
              </a:ext>
            </a:extLst>
          </p:cNvPr>
          <p:cNvSpPr txBox="1"/>
          <p:nvPr/>
        </p:nvSpPr>
        <p:spPr>
          <a:xfrm>
            <a:off x="10059173" y="5445971"/>
            <a:ext cx="65524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Understanding procrastination from the perspective of individual student experiences.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8B1120-9A81-4A3A-927B-5988DDC8C7C1}"/>
              </a:ext>
            </a:extLst>
          </p:cNvPr>
          <p:cNvSpPr txBox="1"/>
          <p:nvPr/>
        </p:nvSpPr>
        <p:spPr>
          <a:xfrm>
            <a:off x="10098244" y="7291792"/>
            <a:ext cx="65133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Providing recommendations for educators and students to effectively address procrastination challenges.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28" grpId="0"/>
      <p:bldP spid="30" grpId="0"/>
      <p:bldP spid="32" grpId="0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520236-E48E-480C-B05D-83B5CC76CE97}"/>
              </a:ext>
            </a:extLst>
          </p:cNvPr>
          <p:cNvSpPr/>
          <p:nvPr/>
        </p:nvSpPr>
        <p:spPr>
          <a:xfrm>
            <a:off x="-15398" y="-396767"/>
            <a:ext cx="18288000" cy="10287000"/>
          </a:xfrm>
          <a:prstGeom prst="rect">
            <a:avLst/>
          </a:prstGeom>
          <a:solidFill>
            <a:srgbClr val="07376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2"/>
          <p:cNvGrpSpPr/>
          <p:nvPr/>
        </p:nvGrpSpPr>
        <p:grpSpPr>
          <a:xfrm>
            <a:off x="6806467" y="-497343"/>
            <a:ext cx="5357825" cy="1864569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365939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7619999" y="263422"/>
            <a:ext cx="7318463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Sample Size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22BC29-524B-4182-9CB4-AEAE09ADC790}"/>
              </a:ext>
            </a:extLst>
          </p:cNvPr>
          <p:cNvSpPr txBox="1"/>
          <p:nvPr/>
        </p:nvSpPr>
        <p:spPr>
          <a:xfrm flipH="1">
            <a:off x="1748385" y="1232936"/>
            <a:ext cx="15227482" cy="1606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Comic Sans MS" panose="030F0702030302020204" pitchFamily="66" charset="0"/>
              </a:rPr>
              <a:t>213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5B9C4-9258-4523-8825-DA4EB4449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630" y="3664182"/>
            <a:ext cx="7989498" cy="5982919"/>
          </a:xfrm>
          <a:prstGeom prst="rect">
            <a:avLst/>
          </a:prstGeom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AA74CC95-09CC-47FA-98C0-95546268A9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54355" y="3328172"/>
            <a:ext cx="8410161" cy="2593990"/>
          </a:xfrm>
          <a:prstGeom prst="rect">
            <a:avLst/>
          </a:prstGeom>
        </p:spPr>
      </p:pic>
      <p:pic>
        <p:nvPicPr>
          <p:cNvPr id="16" name="Picture 4">
            <a:extLst>
              <a:ext uri="{FF2B5EF4-FFF2-40B4-BE49-F238E27FC236}">
                <a16:creationId xmlns:a16="http://schemas.microsoft.com/office/drawing/2014/main" id="{1AF1DC31-6CA5-44DD-80EA-0BA939319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3458591"/>
            <a:ext cx="8213396" cy="25333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F83542-C43D-4C69-9EB7-966D55692536}"/>
              </a:ext>
            </a:extLst>
          </p:cNvPr>
          <p:cNvSpPr txBox="1"/>
          <p:nvPr/>
        </p:nvSpPr>
        <p:spPr>
          <a:xfrm>
            <a:off x="14110916" y="2916949"/>
            <a:ext cx="4160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</a:rPr>
              <a:t>92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7A362E-6225-4D08-BB19-062326665E98}"/>
              </a:ext>
            </a:extLst>
          </p:cNvPr>
          <p:cNvSpPr txBox="1"/>
          <p:nvPr/>
        </p:nvSpPr>
        <p:spPr>
          <a:xfrm>
            <a:off x="3153742" y="3012452"/>
            <a:ext cx="44662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Comic Sans MS" panose="030F0702030302020204" pitchFamily="66" charset="0"/>
              </a:rPr>
              <a:t>121</a:t>
            </a:r>
          </a:p>
        </p:txBody>
      </p:sp>
    </p:spTree>
    <p:extLst>
      <p:ext uri="{BB962C8B-B14F-4D97-AF65-F5344CB8AC3E}">
        <p14:creationId xmlns:p14="http://schemas.microsoft.com/office/powerpoint/2010/main" val="246249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877347" y="63966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001000" y="2158545"/>
            <a:ext cx="10319786" cy="6434888"/>
            <a:chOff x="4968169" y="81892"/>
            <a:chExt cx="5787503" cy="1532762"/>
          </a:xfrm>
        </p:grpSpPr>
        <p:sp>
          <p:nvSpPr>
            <p:cNvPr id="4" name="Freeform 4"/>
            <p:cNvSpPr/>
            <p:nvPr/>
          </p:nvSpPr>
          <p:spPr>
            <a:xfrm>
              <a:off x="4968169" y="81892"/>
              <a:ext cx="5787503" cy="1532762"/>
            </a:xfrm>
            <a:custGeom>
              <a:avLst/>
              <a:gdLst/>
              <a:ahLst/>
              <a:cxnLst/>
              <a:rect l="l" t="t" r="r" b="b"/>
              <a:pathLst>
                <a:path w="5787503" h="1532762">
                  <a:moveTo>
                    <a:pt x="0" y="0"/>
                  </a:moveTo>
                  <a:lnTo>
                    <a:pt x="5787503" y="0"/>
                  </a:lnTo>
                  <a:lnTo>
                    <a:pt x="5787503" y="1532762"/>
                  </a:lnTo>
                  <a:lnTo>
                    <a:pt x="0" y="1532762"/>
                  </a:lnTo>
                  <a:close/>
                </a:path>
              </a:pathLst>
            </a:cu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1" name="Freeform 11"/>
          <p:cNvSpPr/>
          <p:nvPr/>
        </p:nvSpPr>
        <p:spPr>
          <a:xfrm rot="-5338997">
            <a:off x="50727" y="833551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1028700" y="8937233"/>
            <a:ext cx="575044" cy="94268"/>
            <a:chOff x="0" y="0"/>
            <a:chExt cx="929657" cy="15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9164032"/>
            <a:ext cx="950592" cy="94268"/>
            <a:chOff x="0" y="0"/>
            <a:chExt cx="1536796" cy="152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4C55616F-178C-4EC4-87B4-7BEF456CBD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365" y="1693567"/>
            <a:ext cx="10572235" cy="78950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DF3109-E73E-4BD6-9C19-FB0117D795E9}"/>
              </a:ext>
            </a:extLst>
          </p:cNvPr>
          <p:cNvSpPr txBox="1"/>
          <p:nvPr/>
        </p:nvSpPr>
        <p:spPr>
          <a:xfrm flipH="1">
            <a:off x="10102039" y="509367"/>
            <a:ext cx="6117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Do you procrastinate?</a:t>
            </a:r>
          </a:p>
        </p:txBody>
      </p:sp>
      <p:grpSp>
        <p:nvGrpSpPr>
          <p:cNvPr id="5" name="Group 12">
            <a:extLst>
              <a:ext uri="{FF2B5EF4-FFF2-40B4-BE49-F238E27FC236}">
                <a16:creationId xmlns:a16="http://schemas.microsoft.com/office/drawing/2014/main" id="{12DB43F2-9741-643C-B541-14B787B36A64}"/>
              </a:ext>
            </a:extLst>
          </p:cNvPr>
          <p:cNvGrpSpPr/>
          <p:nvPr/>
        </p:nvGrpSpPr>
        <p:grpSpPr>
          <a:xfrm>
            <a:off x="1634548" y="14019"/>
            <a:ext cx="5357825" cy="3986481"/>
            <a:chOff x="0" y="0"/>
            <a:chExt cx="7143766" cy="2486093"/>
          </a:xfrm>
        </p:grpSpPr>
        <p:sp>
          <p:nvSpPr>
            <p:cNvPr id="6" name="AutoShape 13">
              <a:extLst>
                <a:ext uri="{FF2B5EF4-FFF2-40B4-BE49-F238E27FC236}">
                  <a16:creationId xmlns:a16="http://schemas.microsoft.com/office/drawing/2014/main" id="{86956E5B-A03F-ABD7-6753-E82F34430B9E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37044" y="1324983"/>
            <a:ext cx="5659048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Demographics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87030-88BF-493A-46E0-C12DB9A7C9BD}"/>
              </a:ext>
            </a:extLst>
          </p:cNvPr>
          <p:cNvSpPr txBox="1"/>
          <p:nvPr/>
        </p:nvSpPr>
        <p:spPr>
          <a:xfrm>
            <a:off x="870750" y="5751268"/>
            <a:ext cx="77927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Confidence Interval = 95%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14168831" y="-115167"/>
            <a:ext cx="2133599" cy="1864569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365939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594780" y="333214"/>
            <a:ext cx="135845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Age </a:t>
            </a:r>
          </a:p>
        </p:txBody>
      </p:sp>
      <p:sp>
        <p:nvSpPr>
          <p:cNvPr id="17" name="Freeform 17"/>
          <p:cNvSpPr/>
          <p:nvPr/>
        </p:nvSpPr>
        <p:spPr>
          <a:xfrm>
            <a:off x="627093" y="980658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14947003" y="1919165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60335" y="2184510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B848648-08E6-41B1-8C1A-5CB5C13386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179113"/>
            <a:ext cx="12192000" cy="71078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B22BC29-524B-4182-9CB4-AEAE09ADC790}"/>
              </a:ext>
            </a:extLst>
          </p:cNvPr>
          <p:cNvSpPr txBox="1"/>
          <p:nvPr/>
        </p:nvSpPr>
        <p:spPr>
          <a:xfrm flipH="1">
            <a:off x="16898" y="1785059"/>
            <a:ext cx="121751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solidFill>
                  <a:schemeClr val="bg1"/>
                </a:solidFill>
                <a:effectLst/>
              </a:rPr>
              <a:t>Which age group of people tends to procrastinate more or less?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ECBEC-0970-42A9-5528-0C456C74578C}"/>
              </a:ext>
            </a:extLst>
          </p:cNvPr>
          <p:cNvSpPr txBox="1"/>
          <p:nvPr/>
        </p:nvSpPr>
        <p:spPr>
          <a:xfrm>
            <a:off x="12577378" y="6086725"/>
            <a:ext cx="5316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Confidence Interval = 95%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2"/>
          <p:cNvGrpSpPr/>
          <p:nvPr/>
        </p:nvGrpSpPr>
        <p:grpSpPr>
          <a:xfrm>
            <a:off x="2286000" y="23149"/>
            <a:ext cx="5638800" cy="1800009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404039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28587" y="310439"/>
            <a:ext cx="11930413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Family System</a:t>
            </a:r>
          </a:p>
        </p:txBody>
      </p:sp>
      <p:sp>
        <p:nvSpPr>
          <p:cNvPr id="17" name="Freeform 17"/>
          <p:cNvSpPr/>
          <p:nvPr/>
        </p:nvSpPr>
        <p:spPr>
          <a:xfrm>
            <a:off x="745258" y="841691"/>
            <a:ext cx="999678" cy="206257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CC94FD7-D5CF-4522-A6F8-C8A91F832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1169" y="3041404"/>
            <a:ext cx="12296831" cy="73482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44D7A5E-9130-40ED-96B0-4F01621A917D}"/>
              </a:ext>
            </a:extLst>
          </p:cNvPr>
          <p:cNvSpPr txBox="1"/>
          <p:nvPr/>
        </p:nvSpPr>
        <p:spPr>
          <a:xfrm>
            <a:off x="5991169" y="2007804"/>
            <a:ext cx="130604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Levels of procrastination in different family 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EF4FD-39CC-50E7-6954-E9A206600F24}"/>
              </a:ext>
            </a:extLst>
          </p:cNvPr>
          <p:cNvSpPr txBox="1"/>
          <p:nvPr/>
        </p:nvSpPr>
        <p:spPr>
          <a:xfrm>
            <a:off x="152400" y="5416659"/>
            <a:ext cx="5991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Confidence Interval = 95%</a:t>
            </a:r>
          </a:p>
        </p:txBody>
      </p:sp>
    </p:spTree>
    <p:extLst>
      <p:ext uri="{BB962C8B-B14F-4D97-AF65-F5344CB8AC3E}">
        <p14:creationId xmlns:p14="http://schemas.microsoft.com/office/powerpoint/2010/main" val="17783104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-381000" y="0"/>
            <a:ext cx="18669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136863" y="1"/>
            <a:ext cx="5867400" cy="1485900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40404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629083" y="226316"/>
            <a:ext cx="7318463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Gender</a:t>
            </a:r>
          </a:p>
        </p:txBody>
      </p:sp>
      <p:sp>
        <p:nvSpPr>
          <p:cNvPr id="17" name="Freeform 17"/>
          <p:cNvSpPr/>
          <p:nvPr/>
        </p:nvSpPr>
        <p:spPr>
          <a:xfrm>
            <a:off x="892000" y="1028699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E8D2FBF-F1CE-4581-836C-E0C43E1A8C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290" y="2422087"/>
            <a:ext cx="11501136" cy="79812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F597048-4A71-4CE6-9CE5-D4D82EAD6383}"/>
              </a:ext>
            </a:extLst>
          </p:cNvPr>
          <p:cNvSpPr txBox="1"/>
          <p:nvPr/>
        </p:nvSpPr>
        <p:spPr>
          <a:xfrm>
            <a:off x="7808955" y="1508817"/>
            <a:ext cx="915352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How different genders procrastinate?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E7558-AFE7-CECB-3756-8DA10F82F9A8}"/>
              </a:ext>
            </a:extLst>
          </p:cNvPr>
          <p:cNvSpPr txBox="1"/>
          <p:nvPr/>
        </p:nvSpPr>
        <p:spPr>
          <a:xfrm>
            <a:off x="471546" y="5986772"/>
            <a:ext cx="5105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Confidence Interval = 95%</a:t>
            </a:r>
          </a:p>
        </p:txBody>
      </p:sp>
    </p:spTree>
    <p:extLst>
      <p:ext uri="{BB962C8B-B14F-4D97-AF65-F5344CB8AC3E}">
        <p14:creationId xmlns:p14="http://schemas.microsoft.com/office/powerpoint/2010/main" val="3300631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E057A21-3B5B-4B3D-A4C5-ADD6160A0F0E}"/>
              </a:ext>
            </a:extLst>
          </p:cNvPr>
          <p:cNvSpPr/>
          <p:nvPr/>
        </p:nvSpPr>
        <p:spPr>
          <a:xfrm>
            <a:off x="9525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2">
            <a:extLst>
              <a:ext uri="{FF2B5EF4-FFF2-40B4-BE49-F238E27FC236}">
                <a16:creationId xmlns:a16="http://schemas.microsoft.com/office/drawing/2014/main" id="{7103CC33-D84D-44AC-BE18-1C3F85A2BA19}"/>
              </a:ext>
            </a:extLst>
          </p:cNvPr>
          <p:cNvGrpSpPr/>
          <p:nvPr/>
        </p:nvGrpSpPr>
        <p:grpSpPr>
          <a:xfrm>
            <a:off x="14229715" y="-1806505"/>
            <a:ext cx="4067810" cy="6578514"/>
            <a:chOff x="0" y="0"/>
            <a:chExt cx="7143766" cy="2486093"/>
          </a:xfrm>
        </p:grpSpPr>
        <p:sp>
          <p:nvSpPr>
            <p:cNvPr id="15" name="AutoShape 13">
              <a:extLst>
                <a:ext uri="{FF2B5EF4-FFF2-40B4-BE49-F238E27FC236}">
                  <a16:creationId xmlns:a16="http://schemas.microsoft.com/office/drawing/2014/main" id="{4DF61584-F8CE-4421-995E-E311D598EECF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219075" y="875083"/>
            <a:ext cx="18745200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u="none" dirty="0">
                <a:solidFill>
                  <a:schemeClr val="bg1"/>
                </a:solidFill>
              </a:rPr>
              <a:t>        Do you have a clear goal in your life or not 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933389" y="3389127"/>
                <a:ext cx="3733798" cy="3607462"/>
              </a:xfrm>
              <a:prstGeom prst="rect">
                <a:avLst/>
              </a:prstGeom>
            </p:spPr>
            <p:txBody>
              <a:bodyPr wrap="square" lIns="0" tIns="0" rIns="0" bIns="0" rtlCol="0" anchor="b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3600" b="1" baseline="-25000" dirty="0">
                    <a:solidFill>
                      <a:srgbClr val="F1FAEE"/>
                    </a:solidFill>
                  </a:rPr>
                  <a:t>0</a:t>
                </a:r>
                <a:r>
                  <a:rPr lang="en-US" sz="3600" b="1" dirty="0">
                    <a:solidFill>
                      <a:srgbClr val="F1FAEE"/>
                    </a:solidFill>
                  </a:rPr>
                  <a:t>  :   P</a:t>
                </a:r>
                <a:r>
                  <a:rPr lang="en-US" sz="3600" dirty="0">
                    <a:solidFill>
                      <a:srgbClr val="F1FAEE"/>
                    </a:solidFill>
                  </a:rPr>
                  <a:t> = 0. 5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3600" b="1" baseline="-25000" dirty="0">
                    <a:solidFill>
                      <a:srgbClr val="F1FAEE"/>
                    </a:solidFill>
                  </a:rPr>
                  <a:t>1</a:t>
                </a:r>
                <a:r>
                  <a:rPr lang="en-US" sz="3600" b="1" dirty="0">
                    <a:solidFill>
                      <a:srgbClr val="F1FAEE"/>
                    </a:solidFill>
                  </a:rPr>
                  <a:t>   :   P </a:t>
                </a:r>
                <a:r>
                  <a:rPr lang="en-US" sz="3600" dirty="0">
                    <a:solidFill>
                      <a:srgbClr val="F1FAEE"/>
                    </a:solidFill>
                  </a:rPr>
                  <a:t>≠ 0.5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600" b="1" dirty="0">
                    <a:solidFill>
                      <a:srgbClr val="F1FAEE"/>
                    </a:solidFill>
                  </a:rPr>
                  <a:t>p̂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𝟏𝟒𝟕</m:t>
                        </m:r>
                      </m:num>
                      <m:den>
                        <m:r>
                          <a:rPr lang="en-US" sz="3600" b="1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𝟐𝟏𝟑</m:t>
                        </m:r>
                      </m:den>
                    </m:f>
                  </m:oMath>
                </a14:m>
                <a:r>
                  <a:rPr lang="en-US" sz="3600" b="1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num>
                      <m:den>
                        <m:r>
                          <a:rPr lang="en-US" sz="3600" b="1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en-US" sz="3600" b="1" dirty="0">
                    <a:solidFill>
                      <a:srgbClr val="F1FAEE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l-GR" sz="3600" b="1" i="0" dirty="0">
                    <a:solidFill>
                      <a:schemeClr val="bg1"/>
                    </a:solidFill>
                    <a:effectLst/>
                  </a:rPr>
                  <a:t>α</a:t>
                </a:r>
                <a:r>
                  <a:rPr lang="en-US" sz="3600" b="1" i="0" dirty="0">
                    <a:solidFill>
                      <a:schemeClr val="bg1"/>
                    </a:solidFill>
                    <a:effectLst/>
                  </a:rPr>
                  <a:t> = </a:t>
                </a:r>
                <a:r>
                  <a:rPr lang="en-US" sz="3600" i="0" dirty="0">
                    <a:solidFill>
                      <a:schemeClr val="bg1"/>
                    </a:solidFill>
                    <a:effectLst/>
                  </a:rPr>
                  <a:t>0.05</a:t>
                </a:r>
              </a:p>
            </p:txBody>
          </p:sp>
        </mc:Choice>
        <mc:Fallback>
          <p:sp>
            <p:nvSpPr>
              <p:cNvPr id="11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389" y="3389127"/>
                <a:ext cx="3733798" cy="3607462"/>
              </a:xfrm>
              <a:prstGeom prst="rect">
                <a:avLst/>
              </a:prstGeom>
              <a:blipFill>
                <a:blip r:embed="rId2"/>
                <a:stretch>
                  <a:fillRect l="-7341" b="-7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2"/>
          <p:cNvSpPr txBox="1"/>
          <p:nvPr/>
        </p:nvSpPr>
        <p:spPr>
          <a:xfrm>
            <a:off x="2276671" y="5747754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C4517E2-4E01-C5FC-64F0-F4A816155BC3}"/>
              </a:ext>
            </a:extLst>
          </p:cNvPr>
          <p:cNvSpPr txBox="1"/>
          <p:nvPr/>
        </p:nvSpPr>
        <p:spPr>
          <a:xfrm>
            <a:off x="13529724" y="1687183"/>
            <a:ext cx="5439313" cy="1605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Hypothesis</a:t>
            </a:r>
          </a:p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4800" dirty="0">
                <a:solidFill>
                  <a:schemeClr val="bg1"/>
                </a:solidFill>
                <a:latin typeface="Solomon Sans Heavy"/>
              </a:rPr>
              <a:t>NO.1</a:t>
            </a:r>
            <a:endParaRPr lang="en-US" sz="4800" u="none" dirty="0">
              <a:solidFill>
                <a:schemeClr val="bg1"/>
              </a:solidFill>
              <a:latin typeface="Solomon Sans Heavy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C3C2-FD51-FD86-E692-68710E03D70B}"/>
              </a:ext>
            </a:extLst>
          </p:cNvPr>
          <p:cNvSpPr txBox="1"/>
          <p:nvPr/>
        </p:nvSpPr>
        <p:spPr>
          <a:xfrm>
            <a:off x="789859" y="1595772"/>
            <a:ext cx="13359514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chemeClr val="bg1"/>
                </a:solidFill>
              </a:rPr>
              <a:t>Lets assume, </a:t>
            </a:r>
            <a:r>
              <a:rPr lang="en-US" sz="3200" b="1" dirty="0">
                <a:solidFill>
                  <a:schemeClr val="bg1"/>
                </a:solidFill>
              </a:rPr>
              <a:t>50% </a:t>
            </a:r>
            <a:r>
              <a:rPr lang="en-US" sz="3200" dirty="0">
                <a:solidFill>
                  <a:schemeClr val="bg1"/>
                </a:solidFill>
              </a:rPr>
              <a:t>people have clear goal in their life.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1D0FE-1192-663C-8B4B-906C986B7E94}"/>
              </a:ext>
            </a:extLst>
          </p:cNvPr>
          <p:cNvCxnSpPr>
            <a:cxnSpLocks/>
          </p:cNvCxnSpPr>
          <p:nvPr/>
        </p:nvCxnSpPr>
        <p:spPr>
          <a:xfrm>
            <a:off x="4495800" y="3514896"/>
            <a:ext cx="0" cy="335592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CC6D4B2-B3D2-2712-B9BC-CB9F0C8C6B55}"/>
              </a:ext>
            </a:extLst>
          </p:cNvPr>
          <p:cNvSpPr txBox="1"/>
          <p:nvPr/>
        </p:nvSpPr>
        <p:spPr>
          <a:xfrm>
            <a:off x="5424276" y="3646623"/>
            <a:ext cx="8105448" cy="2766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000" b="1" dirty="0" err="1">
                <a:solidFill>
                  <a:srgbClr val="F1FAEE"/>
                </a:solidFill>
              </a:rPr>
              <a:t>Z</a:t>
            </a:r>
            <a:r>
              <a:rPr lang="en-US" sz="4000" b="1" baseline="-25000" dirty="0" err="1">
                <a:solidFill>
                  <a:srgbClr val="F1FAEE"/>
                </a:solidFill>
              </a:rPr>
              <a:t>cal</a:t>
            </a:r>
            <a:r>
              <a:rPr lang="en-US" sz="4000" dirty="0">
                <a:solidFill>
                  <a:srgbClr val="F1FAEE"/>
                </a:solidFill>
              </a:rPr>
              <a:t> = 5.550 (After calculation)</a:t>
            </a:r>
          </a:p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F1FAEE"/>
                </a:solidFill>
              </a:rPr>
              <a:t>Z</a:t>
            </a:r>
            <a:r>
              <a:rPr lang="el-GR" sz="4000" b="1" baseline="-25000" dirty="0">
                <a:solidFill>
                  <a:schemeClr val="bg1"/>
                </a:solidFill>
              </a:rPr>
              <a:t>α</a:t>
            </a:r>
            <a:r>
              <a:rPr lang="en-US" sz="4000" b="1" baseline="-25000" dirty="0">
                <a:solidFill>
                  <a:schemeClr val="bg1"/>
                </a:solidFill>
              </a:rPr>
              <a:t>/2</a:t>
            </a:r>
            <a:r>
              <a:rPr lang="el-GR" sz="4000" b="1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rgbClr val="F1FAEE"/>
                </a:solidFill>
              </a:rPr>
              <a:t>= 1.96</a:t>
            </a:r>
          </a:p>
          <a:p>
            <a:pPr>
              <a:lnSpc>
                <a:spcPct val="150000"/>
              </a:lnSpc>
            </a:pPr>
            <a:r>
              <a:rPr lang="en-US" sz="4000" kern="12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n-US" sz="4000" kern="1200" baseline="-250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cal</a:t>
            </a:r>
            <a:r>
              <a:rPr lang="en-US" sz="40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 &gt; Z</a:t>
            </a:r>
            <a:r>
              <a:rPr lang="el-GR" sz="4000" baseline="-25000" dirty="0">
                <a:solidFill>
                  <a:schemeClr val="bg1"/>
                </a:solidFill>
              </a:rPr>
              <a:t> α</a:t>
            </a:r>
            <a:r>
              <a:rPr lang="en-US" sz="4000" baseline="-25000" dirty="0">
                <a:solidFill>
                  <a:schemeClr val="bg1"/>
                </a:solidFill>
              </a:rPr>
              <a:t>/2</a:t>
            </a:r>
            <a:r>
              <a:rPr lang="el-GR" sz="4000" dirty="0">
                <a:solidFill>
                  <a:schemeClr val="bg1"/>
                </a:solidFill>
              </a:rPr>
              <a:t> </a:t>
            </a:r>
            <a:r>
              <a:rPr lang="en-US" sz="4000" b="1" dirty="0">
                <a:solidFill>
                  <a:schemeClr val="bg1"/>
                </a:solidFill>
              </a:rPr>
              <a:t>(True)</a:t>
            </a:r>
            <a:endParaRPr lang="en-US" sz="4000" b="1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932851" y="7969295"/>
            <a:ext cx="13296864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600" b="1" u="sng" dirty="0">
                <a:solidFill>
                  <a:schemeClr val="bg1"/>
                </a:solidFill>
              </a:rPr>
              <a:t>Inference</a:t>
            </a:r>
            <a:r>
              <a:rPr lang="en-US" sz="3600" dirty="0">
                <a:solidFill>
                  <a:schemeClr val="bg1"/>
                </a:solidFill>
              </a:rPr>
              <a:t>: </a:t>
            </a:r>
            <a:r>
              <a:rPr lang="en-US" sz="3200" dirty="0">
                <a:solidFill>
                  <a:schemeClr val="bg1"/>
                </a:solidFill>
              </a:rPr>
              <a:t>This shows that the hypothesis was incorrect, we will reject the NULL hypothesis.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385F6AE0-4014-4DEB-A71D-2A9CC982E122}"/>
              </a:ext>
            </a:extLst>
          </p:cNvPr>
          <p:cNvSpPr/>
          <p:nvPr/>
        </p:nvSpPr>
        <p:spPr>
          <a:xfrm>
            <a:off x="151137" y="233635"/>
            <a:ext cx="781713" cy="237327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2">
            <a:extLst>
              <a:ext uri="{FF2B5EF4-FFF2-40B4-BE49-F238E27FC236}">
                <a16:creationId xmlns:a16="http://schemas.microsoft.com/office/drawing/2014/main" id="{FA752C59-DC7C-4A99-963C-D73708B44054}"/>
              </a:ext>
            </a:extLst>
          </p:cNvPr>
          <p:cNvSpPr/>
          <p:nvPr/>
        </p:nvSpPr>
        <p:spPr>
          <a:xfrm rot="10497974">
            <a:off x="16806103" y="8897671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5" grpId="0"/>
      <p:bldP spid="3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2209800" y="0"/>
            <a:ext cx="8153400" cy="1485900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40404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590800" y="274758"/>
            <a:ext cx="77724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Hypothesis NO.1 </a:t>
            </a:r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pPr>
              <a:lnSpc>
                <a:spcPts val="6517"/>
              </a:lnSpc>
            </a:pPr>
            <a:endParaRPr lang="en-US" sz="5431" dirty="0">
              <a:solidFill>
                <a:srgbClr val="F1FAEE"/>
              </a:solidFill>
              <a:latin typeface="Solomon Sans Heavy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892000" y="1028699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10FA497-1BB9-8305-A0F2-D1FF09621C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225638"/>
            <a:ext cx="11430000" cy="732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580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EA231-3417-497E-8C17-AD012D15F0E9}"/>
              </a:ext>
            </a:extLst>
          </p:cNvPr>
          <p:cNvSpPr/>
          <p:nvPr/>
        </p:nvSpPr>
        <p:spPr>
          <a:xfrm>
            <a:off x="9525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2">
            <a:extLst>
              <a:ext uri="{FF2B5EF4-FFF2-40B4-BE49-F238E27FC236}">
                <a16:creationId xmlns:a16="http://schemas.microsoft.com/office/drawing/2014/main" id="{20897123-3DBB-46E9-A45F-1F6D9C67C3B1}"/>
              </a:ext>
            </a:extLst>
          </p:cNvPr>
          <p:cNvGrpSpPr/>
          <p:nvPr/>
        </p:nvGrpSpPr>
        <p:grpSpPr>
          <a:xfrm>
            <a:off x="3962401" y="-5134985"/>
            <a:ext cx="9535206" cy="6544685"/>
            <a:chOff x="0" y="0"/>
            <a:chExt cx="7143766" cy="2486093"/>
          </a:xfrm>
        </p:grpSpPr>
        <p:sp>
          <p:nvSpPr>
            <p:cNvPr id="22" name="AutoShape 13">
              <a:extLst>
                <a:ext uri="{FF2B5EF4-FFF2-40B4-BE49-F238E27FC236}">
                  <a16:creationId xmlns:a16="http://schemas.microsoft.com/office/drawing/2014/main" id="{165F0EE9-5147-401F-A1B6-E560F3BB30F0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55885" y="1376526"/>
            <a:ext cx="15968581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1FAEE"/>
                </a:solidFill>
              </a:rPr>
              <a:t>How frequently do you consider making a timetable for your task</a:t>
            </a:r>
            <a:r>
              <a:rPr lang="en-US" sz="4400" b="1" u="none" dirty="0">
                <a:solidFill>
                  <a:srgbClr val="F1FAEE"/>
                </a:solidFill>
              </a:rPr>
              <a:t>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1355885" y="3249901"/>
                <a:ext cx="8718426" cy="4173002"/>
              </a:xfrm>
              <a:prstGeom prst="rect">
                <a:avLst/>
              </a:prstGeom>
            </p:spPr>
            <p:txBody>
              <a:bodyPr wrap="square" lIns="0" tIns="0" rIns="0" bIns="0" rtlCol="0" anchor="b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p̂ </a:t>
                </a:r>
                <a:r>
                  <a:rPr lang="en-US" sz="2800" dirty="0">
                    <a:solidFill>
                      <a:srgbClr val="F1FAEE"/>
                    </a:solidFill>
                  </a:rPr>
                  <a:t>=portion of students that makes time table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0</a:t>
                </a:r>
                <a:r>
                  <a:rPr lang="en-US" sz="2800" b="1" dirty="0">
                    <a:solidFill>
                      <a:srgbClr val="F1FAEE"/>
                    </a:solidFill>
                  </a:rPr>
                  <a:t>  :   </a:t>
                </a:r>
                <a:r>
                  <a:rPr lang="en-US" sz="2800" dirty="0">
                    <a:solidFill>
                      <a:srgbClr val="F1FAEE"/>
                    </a:solidFill>
                  </a:rPr>
                  <a:t>P = 0. 7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1</a:t>
                </a:r>
                <a:r>
                  <a:rPr lang="en-US" sz="2800" b="1" dirty="0">
                    <a:solidFill>
                      <a:srgbClr val="F1FAEE"/>
                    </a:solidFill>
                  </a:rPr>
                  <a:t>   :   </a:t>
                </a:r>
                <a:r>
                  <a:rPr lang="en-US" sz="2800" dirty="0">
                    <a:solidFill>
                      <a:srgbClr val="F1FAEE"/>
                    </a:solidFill>
                  </a:rPr>
                  <a:t>P &lt; 0.7 (one tailed test)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p̂ </a:t>
                </a:r>
                <a:r>
                  <a:rPr lang="en-US" sz="2800" dirty="0">
                    <a:solidFill>
                      <a:srgbClr val="F1FAEE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213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𝑜𝑓𝑡𝑒𝑛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1FAEE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l-GR" sz="2800" b="1" i="0" dirty="0">
                    <a:solidFill>
                      <a:schemeClr val="bg1"/>
                    </a:solidFill>
                    <a:effectLst/>
                  </a:rPr>
                  <a:t>α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 = 0.05 (significance level)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Z 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= 0.95 (confidence leve</a:t>
                </a:r>
                <a:r>
                  <a:rPr lang="en-US" sz="2800" dirty="0">
                    <a:solidFill>
                      <a:schemeClr val="bg1"/>
                    </a:solidFill>
                  </a:rPr>
                  <a:t>l)</a:t>
                </a:r>
                <a:endParaRPr lang="en-US" sz="2800" i="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>
          <p:sp>
            <p:nvSpPr>
              <p:cNvPr id="11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885" y="3249901"/>
                <a:ext cx="8718426" cy="4173002"/>
              </a:xfrm>
              <a:prstGeom prst="rect">
                <a:avLst/>
              </a:prstGeom>
              <a:blipFill>
                <a:blip r:embed="rId2"/>
                <a:stretch>
                  <a:fillRect l="-2446" b="-5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2"/>
          <p:cNvSpPr txBox="1"/>
          <p:nvPr/>
        </p:nvSpPr>
        <p:spPr>
          <a:xfrm>
            <a:off x="2276671" y="6085821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C4517E2-4E01-C5FC-64F0-F4A816155BC3}"/>
              </a:ext>
            </a:extLst>
          </p:cNvPr>
          <p:cNvSpPr txBox="1"/>
          <p:nvPr/>
        </p:nvSpPr>
        <p:spPr>
          <a:xfrm>
            <a:off x="5260621" y="233364"/>
            <a:ext cx="7000293" cy="854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Hypothesis </a:t>
            </a: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NO.</a:t>
            </a: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C3C2-FD51-FD86-E692-68710E03D70B}"/>
              </a:ext>
            </a:extLst>
          </p:cNvPr>
          <p:cNvSpPr txBox="1"/>
          <p:nvPr/>
        </p:nvSpPr>
        <p:spPr>
          <a:xfrm>
            <a:off x="1272399" y="2377137"/>
            <a:ext cx="15450146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2900" dirty="0">
                <a:solidFill>
                  <a:srgbClr val="F1FAEE"/>
                </a:solidFill>
              </a:rPr>
              <a:t>We are claiming that 70 % people usually consider making of timetable (Taking </a:t>
            </a:r>
            <a:r>
              <a:rPr lang="en-US" sz="2900" b="1" i="1" dirty="0">
                <a:solidFill>
                  <a:srgbClr val="F1FAEE"/>
                </a:solidFill>
              </a:rPr>
              <a:t>“</a:t>
            </a:r>
            <a:r>
              <a:rPr lang="en-US" sz="2900" b="1" i="1" u="sng" dirty="0">
                <a:solidFill>
                  <a:srgbClr val="F1FAEE"/>
                </a:solidFill>
              </a:rPr>
              <a:t>OFTEN</a:t>
            </a:r>
            <a:r>
              <a:rPr lang="en-US" sz="2900" b="1" i="1" dirty="0">
                <a:solidFill>
                  <a:srgbClr val="F1FAEE"/>
                </a:solidFill>
              </a:rPr>
              <a:t>” </a:t>
            </a:r>
            <a:r>
              <a:rPr lang="en-US" sz="2900" dirty="0">
                <a:solidFill>
                  <a:srgbClr val="F1FAEE"/>
                </a:solidFill>
              </a:rPr>
              <a:t>as success).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1D0FE-1192-663C-8B4B-906C986B7E94}"/>
              </a:ext>
            </a:extLst>
          </p:cNvPr>
          <p:cNvCxnSpPr>
            <a:cxnSpLocks/>
          </p:cNvCxnSpPr>
          <p:nvPr/>
        </p:nvCxnSpPr>
        <p:spPr>
          <a:xfrm>
            <a:off x="9129622" y="3475572"/>
            <a:ext cx="0" cy="4112729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CC6D4B2-B3D2-2712-B9BC-CB9F0C8C6B55}"/>
              </a:ext>
            </a:extLst>
          </p:cNvPr>
          <p:cNvSpPr txBox="1"/>
          <p:nvPr/>
        </p:nvSpPr>
        <p:spPr>
          <a:xfrm>
            <a:off x="10058995" y="4189036"/>
            <a:ext cx="8105448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err="1">
                <a:solidFill>
                  <a:srgbClr val="F1FAEE"/>
                </a:solidFill>
              </a:rPr>
              <a:t>Z</a:t>
            </a:r>
            <a:r>
              <a:rPr lang="en-US" sz="3200" b="1" baseline="-25000" dirty="0" err="1">
                <a:solidFill>
                  <a:srgbClr val="F1FAEE"/>
                </a:solidFill>
              </a:rPr>
              <a:t>cal</a:t>
            </a:r>
            <a:r>
              <a:rPr lang="en-US" sz="3200" b="1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= -13.77( After calculation)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Z</a:t>
            </a:r>
            <a:r>
              <a:rPr lang="el-GR" sz="3200" b="1" i="0" baseline="-25000" dirty="0">
                <a:solidFill>
                  <a:schemeClr val="bg1"/>
                </a:solidFill>
                <a:effectLst/>
              </a:rPr>
              <a:t>α</a:t>
            </a:r>
            <a:r>
              <a:rPr lang="en-US" sz="3200" b="1" i="0" baseline="-25000" dirty="0">
                <a:solidFill>
                  <a:schemeClr val="bg1"/>
                </a:solidFill>
                <a:effectLst/>
              </a:rPr>
              <a:t> </a:t>
            </a:r>
            <a:r>
              <a:rPr lang="en-US" sz="3200" b="1" baseline="-25000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= -1.645 (one tailed)</a:t>
            </a:r>
          </a:p>
          <a:p>
            <a:pPr>
              <a:lnSpc>
                <a:spcPct val="150000"/>
              </a:lnSpc>
            </a:pP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 </a:t>
            </a:r>
            <a:r>
              <a:rPr lang="en-US" sz="3200" baseline="-25000" dirty="0" err="1">
                <a:solidFill>
                  <a:srgbClr val="F1FAEE"/>
                </a:solidFill>
              </a:rPr>
              <a:t>cal</a:t>
            </a:r>
            <a:r>
              <a:rPr lang="en-US" sz="3200" baseline="-25000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&lt; </a:t>
            </a: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l-GR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α</a:t>
            </a:r>
            <a:r>
              <a:rPr lang="en-US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 </a:t>
            </a:r>
            <a:r>
              <a:rPr lang="en-US" sz="3200" b="1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(True)</a:t>
            </a:r>
            <a:endParaRPr lang="en-US" sz="3200" b="1" baseline="-25000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1147861" y="8459444"/>
            <a:ext cx="1785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chemeClr val="bg1"/>
                </a:solidFill>
              </a:rPr>
              <a:t>Inference</a:t>
            </a:r>
            <a:r>
              <a:rPr lang="en-US" sz="3600" dirty="0">
                <a:solidFill>
                  <a:schemeClr val="bg1"/>
                </a:solidFill>
              </a:rPr>
              <a:t>:</a:t>
            </a:r>
            <a:r>
              <a:rPr lang="en-US" sz="3200" dirty="0">
                <a:solidFill>
                  <a:schemeClr val="bg1"/>
                </a:solidFill>
              </a:rPr>
              <a:t> This shows that </a:t>
            </a:r>
            <a:r>
              <a:rPr lang="en-US" sz="3200" b="1" dirty="0">
                <a:solidFill>
                  <a:srgbClr val="F1FAEE"/>
                </a:solidFill>
              </a:rPr>
              <a:t>H</a:t>
            </a:r>
            <a:r>
              <a:rPr lang="en-US" sz="3200" b="1" baseline="-25000" dirty="0">
                <a:solidFill>
                  <a:srgbClr val="F1FAEE"/>
                </a:solidFill>
              </a:rPr>
              <a:t>0</a:t>
            </a:r>
            <a:r>
              <a:rPr lang="en-US" sz="3200" b="1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chemeClr val="bg1"/>
                </a:solidFill>
              </a:rPr>
              <a:t>was incorrect, we will reject NULL hypothesis.</a:t>
            </a:r>
          </a:p>
        </p:txBody>
      </p:sp>
      <p:grpSp>
        <p:nvGrpSpPr>
          <p:cNvPr id="15" name="Group 21">
            <a:extLst>
              <a:ext uri="{FF2B5EF4-FFF2-40B4-BE49-F238E27FC236}">
                <a16:creationId xmlns:a16="http://schemas.microsoft.com/office/drawing/2014/main" id="{32BFB64C-547B-4B30-ADAB-F35FDF6328D1}"/>
              </a:ext>
            </a:extLst>
          </p:cNvPr>
          <p:cNvGrpSpPr/>
          <p:nvPr/>
        </p:nvGrpSpPr>
        <p:grpSpPr>
          <a:xfrm>
            <a:off x="68079" y="1613179"/>
            <a:ext cx="575044" cy="94268"/>
            <a:chOff x="0" y="0"/>
            <a:chExt cx="929657" cy="152400"/>
          </a:xfrm>
        </p:grpSpPr>
        <p:sp>
          <p:nvSpPr>
            <p:cNvPr id="16" name="Freeform 22">
              <a:extLst>
                <a:ext uri="{FF2B5EF4-FFF2-40B4-BE49-F238E27FC236}">
                  <a16:creationId xmlns:a16="http://schemas.microsoft.com/office/drawing/2014/main" id="{D9C6C467-9A4F-4448-9405-0D202D06F4B2}"/>
                </a:ext>
              </a:extLst>
            </p:cNvPr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23">
            <a:extLst>
              <a:ext uri="{FF2B5EF4-FFF2-40B4-BE49-F238E27FC236}">
                <a16:creationId xmlns:a16="http://schemas.microsoft.com/office/drawing/2014/main" id="{1A1A0843-EC6A-4499-9D7F-45EDD82386E8}"/>
              </a:ext>
            </a:extLst>
          </p:cNvPr>
          <p:cNvGrpSpPr/>
          <p:nvPr/>
        </p:nvGrpSpPr>
        <p:grpSpPr>
          <a:xfrm>
            <a:off x="63619" y="1771684"/>
            <a:ext cx="806580" cy="94268"/>
            <a:chOff x="0" y="0"/>
            <a:chExt cx="1536796" cy="152400"/>
          </a:xfrm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D7D06FAE-77B9-4C12-8458-4EE93C25130A}"/>
                </a:ext>
              </a:extLst>
            </p:cNvPr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2">
            <a:extLst>
              <a:ext uri="{FF2B5EF4-FFF2-40B4-BE49-F238E27FC236}">
                <a16:creationId xmlns:a16="http://schemas.microsoft.com/office/drawing/2014/main" id="{1F0ED43F-7AA0-4691-A4DD-1DC695882C4F}"/>
              </a:ext>
            </a:extLst>
          </p:cNvPr>
          <p:cNvSpPr/>
          <p:nvPr/>
        </p:nvSpPr>
        <p:spPr>
          <a:xfrm rot="5400000">
            <a:off x="16784812" y="310193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Freeform 17">
            <a:extLst>
              <a:ext uri="{FF2B5EF4-FFF2-40B4-BE49-F238E27FC236}">
                <a16:creationId xmlns:a16="http://schemas.microsoft.com/office/drawing/2014/main" id="{2BEBBA46-1C79-1D64-DAE5-2A5C93B0AA44}"/>
              </a:ext>
            </a:extLst>
          </p:cNvPr>
          <p:cNvSpPr/>
          <p:nvPr/>
        </p:nvSpPr>
        <p:spPr>
          <a:xfrm rot="5400000">
            <a:off x="192112" y="651163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99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5" grpId="0"/>
      <p:bldP spid="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49438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 rot="5400000">
            <a:off x="16868880" y="40404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0BBF3A7F-C401-43AB-8FB1-43AC47D9A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857" y="2587402"/>
            <a:ext cx="10436485" cy="6747827"/>
          </a:xfrm>
          <a:prstGeom prst="rect">
            <a:avLst/>
          </a:prstGeom>
        </p:spPr>
      </p:pic>
      <p:grpSp>
        <p:nvGrpSpPr>
          <p:cNvPr id="3" name="Group 12">
            <a:extLst>
              <a:ext uri="{FF2B5EF4-FFF2-40B4-BE49-F238E27FC236}">
                <a16:creationId xmlns:a16="http://schemas.microsoft.com/office/drawing/2014/main" id="{3A6D9A87-DD5D-74BC-5409-8DADCCEBB353}"/>
              </a:ext>
            </a:extLst>
          </p:cNvPr>
          <p:cNvGrpSpPr/>
          <p:nvPr/>
        </p:nvGrpSpPr>
        <p:grpSpPr>
          <a:xfrm rot="16200000">
            <a:off x="860165" y="-122580"/>
            <a:ext cx="6333498" cy="5310630"/>
            <a:chOff x="-71069" y="-260644"/>
            <a:chExt cx="7143766" cy="2486093"/>
          </a:xfrm>
        </p:grpSpPr>
        <p:sp>
          <p:nvSpPr>
            <p:cNvPr id="5" name="AutoShape 13">
              <a:extLst>
                <a:ext uri="{FF2B5EF4-FFF2-40B4-BE49-F238E27FC236}">
                  <a16:creationId xmlns:a16="http://schemas.microsoft.com/office/drawing/2014/main" id="{9F1BED35-ADA9-8F9F-052E-96200F33F96C}"/>
                </a:ext>
              </a:extLst>
            </p:cNvPr>
            <p:cNvSpPr/>
            <p:nvPr/>
          </p:nvSpPr>
          <p:spPr>
            <a:xfrm>
              <a:off x="-71069" y="-260644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C43B3F-561C-F0EF-AE1B-873F49F1A311}"/>
              </a:ext>
            </a:extLst>
          </p:cNvPr>
          <p:cNvSpPr txBox="1"/>
          <p:nvPr/>
        </p:nvSpPr>
        <p:spPr>
          <a:xfrm flipH="1">
            <a:off x="1541425" y="1560929"/>
            <a:ext cx="5335353" cy="1943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4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Solomon Sans Heavy"/>
              </a:rPr>
              <a:t> NO.</a:t>
            </a:r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 2  </a:t>
            </a:r>
          </a:p>
          <a:p>
            <a:pPr algn="ctr"/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33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0687E65-41D8-4513-92C8-0EB7A1DA1FA1}"/>
              </a:ext>
            </a:extLst>
          </p:cNvPr>
          <p:cNvSpPr/>
          <p:nvPr/>
        </p:nvSpPr>
        <p:spPr>
          <a:xfrm>
            <a:off x="-107675" y="-28164"/>
            <a:ext cx="18503349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43123" y="1409765"/>
            <a:ext cx="17340073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1FAEE"/>
                </a:solidFill>
              </a:rPr>
              <a:t>Are you able to complete your tasks according to the timetable you make</a:t>
            </a:r>
            <a:r>
              <a:rPr lang="en-US" sz="4400" b="1" u="none" dirty="0">
                <a:solidFill>
                  <a:srgbClr val="F1FAEE"/>
                </a:solidFill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1159321" y="3658759"/>
                <a:ext cx="8718426" cy="4769383"/>
              </a:xfrm>
              <a:prstGeom prst="rect">
                <a:avLst/>
              </a:prstGeom>
            </p:spPr>
            <p:txBody>
              <a:bodyPr wrap="square" lIns="0" tIns="0" rIns="0" bIns="0" rtlCol="0" anchor="b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1FAEE"/>
                    </a:solidFill>
                  </a:rPr>
                  <a:t>p̂ </a:t>
                </a:r>
                <a:r>
                  <a:rPr lang="en-US" sz="3200" dirty="0">
                    <a:solidFill>
                      <a:srgbClr val="F1FAEE"/>
                    </a:solidFill>
                  </a:rPr>
                  <a:t>= </a:t>
                </a:r>
                <a:r>
                  <a:rPr lang="en-US" sz="2800" dirty="0">
                    <a:solidFill>
                      <a:srgbClr val="F1FAEE"/>
                    </a:solidFill>
                  </a:rPr>
                  <a:t>portion of students that complete tasks in time </a:t>
                </a:r>
                <a:endParaRPr lang="en-US" sz="3200" dirty="0">
                  <a:solidFill>
                    <a:srgbClr val="F1FAEE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3200" b="1" baseline="-25000" dirty="0">
                    <a:solidFill>
                      <a:srgbClr val="F1FAEE"/>
                    </a:solidFill>
                  </a:rPr>
                  <a:t>0</a:t>
                </a:r>
                <a:r>
                  <a:rPr lang="en-US" sz="3200" b="1" dirty="0">
                    <a:solidFill>
                      <a:srgbClr val="F1FAEE"/>
                    </a:solidFill>
                  </a:rPr>
                  <a:t> </a:t>
                </a:r>
                <a:r>
                  <a:rPr lang="en-US" sz="3200" dirty="0">
                    <a:solidFill>
                      <a:srgbClr val="F1FAEE"/>
                    </a:solidFill>
                  </a:rPr>
                  <a:t> :   </a:t>
                </a:r>
                <a:r>
                  <a:rPr lang="en-US" sz="2800" dirty="0">
                    <a:solidFill>
                      <a:srgbClr val="F1FAEE"/>
                    </a:solidFill>
                  </a:rPr>
                  <a:t>P = 0. 4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3200" b="1" baseline="-25000" dirty="0">
                    <a:solidFill>
                      <a:srgbClr val="F1FAEE"/>
                    </a:solidFill>
                  </a:rPr>
                  <a:t>1</a:t>
                </a:r>
                <a:r>
                  <a:rPr lang="en-US" sz="3200" b="1" dirty="0">
                    <a:solidFill>
                      <a:srgbClr val="F1FAEE"/>
                    </a:solidFill>
                  </a:rPr>
                  <a:t> </a:t>
                </a:r>
                <a:r>
                  <a:rPr lang="en-US" sz="3200" dirty="0">
                    <a:solidFill>
                      <a:srgbClr val="F1FAEE"/>
                    </a:solidFill>
                  </a:rPr>
                  <a:t>  :   </a:t>
                </a:r>
                <a:r>
                  <a:rPr lang="en-US" sz="2800" dirty="0">
                    <a:solidFill>
                      <a:srgbClr val="F1FAEE"/>
                    </a:solidFill>
                  </a:rPr>
                  <a:t>P &lt; 0.4 (one tailed test)</a:t>
                </a:r>
                <a:endParaRPr lang="en-US" sz="3200" dirty="0">
                  <a:solidFill>
                    <a:srgbClr val="F1FAEE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1FAEE"/>
                    </a:solidFill>
                  </a:rPr>
                  <a:t>p̂ </a:t>
                </a:r>
                <a:r>
                  <a:rPr lang="en-US" sz="3200" dirty="0">
                    <a:solidFill>
                      <a:srgbClr val="F1FAEE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46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213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𝑜𝑓𝑡𝑒𝑛</m:t>
                        </m:r>
                      </m:num>
                      <m:den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US" sz="32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1FAEE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l-GR" sz="3200" b="1" i="0" dirty="0">
                    <a:solidFill>
                      <a:schemeClr val="bg1"/>
                    </a:solidFill>
                    <a:effectLst/>
                  </a:rPr>
                  <a:t>α</a:t>
                </a:r>
                <a:r>
                  <a:rPr lang="en-US" sz="3200" b="1" i="0" dirty="0">
                    <a:solidFill>
                      <a:schemeClr val="bg1"/>
                    </a:solidFill>
                    <a:effectLst/>
                  </a:rPr>
                  <a:t> </a:t>
                </a:r>
                <a:r>
                  <a:rPr lang="en-US" sz="3200" i="0" dirty="0">
                    <a:solidFill>
                      <a:schemeClr val="bg1"/>
                    </a:solidFill>
                    <a:effectLst/>
                  </a:rPr>
                  <a:t>= 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0.05 (significance level)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3200" b="1" dirty="0">
                    <a:solidFill>
                      <a:srgbClr val="F1FAEE"/>
                    </a:solidFill>
                  </a:rPr>
                  <a:t>Z </a:t>
                </a:r>
                <a:r>
                  <a:rPr lang="en-US" sz="3200" i="0" dirty="0">
                    <a:solidFill>
                      <a:schemeClr val="bg1"/>
                    </a:solidFill>
                    <a:effectLst/>
                  </a:rPr>
                  <a:t>= 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0.95 (confidence leve</a:t>
                </a:r>
                <a:r>
                  <a:rPr lang="en-US" sz="2800" dirty="0">
                    <a:solidFill>
                      <a:schemeClr val="bg1"/>
                    </a:solidFill>
                  </a:rPr>
                  <a:t>l)</a:t>
                </a:r>
                <a:endParaRPr lang="en-US" sz="3200" i="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>
          <p:sp>
            <p:nvSpPr>
              <p:cNvPr id="11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21" y="3658759"/>
                <a:ext cx="8718426" cy="4769383"/>
              </a:xfrm>
              <a:prstGeom prst="rect">
                <a:avLst/>
              </a:prstGeom>
              <a:blipFill>
                <a:blip r:embed="rId2"/>
                <a:stretch>
                  <a:fillRect l="-2797" b="-5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2"/>
          <p:cNvSpPr txBox="1"/>
          <p:nvPr/>
        </p:nvSpPr>
        <p:spPr>
          <a:xfrm>
            <a:off x="2276671" y="6085821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C3C2-FD51-FD86-E692-68710E03D70B}"/>
              </a:ext>
            </a:extLst>
          </p:cNvPr>
          <p:cNvSpPr txBox="1"/>
          <p:nvPr/>
        </p:nvSpPr>
        <p:spPr>
          <a:xfrm>
            <a:off x="489703" y="2385672"/>
            <a:ext cx="167860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3200" dirty="0">
                <a:solidFill>
                  <a:srgbClr val="F1FAEE"/>
                </a:solidFill>
              </a:rPr>
              <a:t>We are claiming that </a:t>
            </a:r>
            <a:r>
              <a:rPr lang="en-US" sz="3200" b="1" dirty="0">
                <a:solidFill>
                  <a:srgbClr val="F1FAEE"/>
                </a:solidFill>
              </a:rPr>
              <a:t>40%</a:t>
            </a:r>
            <a:r>
              <a:rPr lang="en-US" sz="3200" dirty="0">
                <a:solidFill>
                  <a:srgbClr val="F1FAEE"/>
                </a:solidFill>
              </a:rPr>
              <a:t> people complete their tasks according to the  timetable they make. (Taking </a:t>
            </a:r>
            <a:r>
              <a:rPr lang="en-US" sz="3200" b="1" dirty="0">
                <a:solidFill>
                  <a:srgbClr val="F1FAEE"/>
                </a:solidFill>
              </a:rPr>
              <a:t>“</a:t>
            </a:r>
            <a:r>
              <a:rPr lang="en-US" sz="3200" b="1" i="1" u="sng" dirty="0">
                <a:solidFill>
                  <a:srgbClr val="F1FAEE"/>
                </a:solidFill>
              </a:rPr>
              <a:t>OFTEN</a:t>
            </a:r>
            <a:r>
              <a:rPr lang="en-US" sz="3200" b="1" dirty="0">
                <a:solidFill>
                  <a:srgbClr val="F1FAEE"/>
                </a:solidFill>
              </a:rPr>
              <a:t>”</a:t>
            </a:r>
            <a:r>
              <a:rPr lang="en-US" sz="3200" dirty="0">
                <a:solidFill>
                  <a:srgbClr val="F1FAEE"/>
                </a:solidFill>
              </a:rPr>
              <a:t> as success).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1D0FE-1192-663C-8B4B-906C986B7E94}"/>
              </a:ext>
            </a:extLst>
          </p:cNvPr>
          <p:cNvCxnSpPr>
            <a:cxnSpLocks/>
          </p:cNvCxnSpPr>
          <p:nvPr/>
        </p:nvCxnSpPr>
        <p:spPr>
          <a:xfrm>
            <a:off x="9794921" y="4036136"/>
            <a:ext cx="0" cy="454621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CC6D4B2-B3D2-2712-B9BC-CB9F0C8C6B55}"/>
              </a:ext>
            </a:extLst>
          </p:cNvPr>
          <p:cNvSpPr txBox="1"/>
          <p:nvPr/>
        </p:nvSpPr>
        <p:spPr>
          <a:xfrm>
            <a:off x="10519143" y="4420589"/>
            <a:ext cx="8105448" cy="2499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dirty="0" err="1">
                <a:solidFill>
                  <a:srgbClr val="F1FAEE"/>
                </a:solidFill>
              </a:rPr>
              <a:t>Z</a:t>
            </a:r>
            <a:r>
              <a:rPr lang="en-US" sz="3600" b="1" baseline="-25000" dirty="0" err="1">
                <a:solidFill>
                  <a:srgbClr val="F1FAEE"/>
                </a:solidFill>
              </a:rPr>
              <a:t>cal</a:t>
            </a:r>
            <a:r>
              <a:rPr lang="en-US" sz="3600" dirty="0">
                <a:solidFill>
                  <a:srgbClr val="F1FAEE"/>
                </a:solidFill>
              </a:rPr>
              <a:t> = -5.48( After calculation)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F1FAEE"/>
                </a:solidFill>
              </a:rPr>
              <a:t>Z</a:t>
            </a:r>
            <a:r>
              <a:rPr lang="el-GR" sz="3600" b="1" i="0" baseline="-25000" dirty="0">
                <a:solidFill>
                  <a:schemeClr val="bg1"/>
                </a:solidFill>
                <a:effectLst/>
              </a:rPr>
              <a:t>α</a:t>
            </a:r>
            <a:r>
              <a:rPr lang="en-US" sz="36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3600" b="1" dirty="0">
                <a:solidFill>
                  <a:srgbClr val="F1FAEE"/>
                </a:solidFill>
              </a:rPr>
              <a:t> </a:t>
            </a:r>
            <a:r>
              <a:rPr lang="en-US" sz="3600" dirty="0">
                <a:solidFill>
                  <a:srgbClr val="F1FAEE"/>
                </a:solidFill>
              </a:rPr>
              <a:t>= -1.645 (one tailed)</a:t>
            </a:r>
          </a:p>
          <a:p>
            <a:pPr>
              <a:lnSpc>
                <a:spcPct val="150000"/>
              </a:lnSpc>
            </a:pPr>
            <a:r>
              <a:rPr lang="en-US" sz="3600" kern="12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n-US" sz="3600" kern="1200" baseline="-250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cal</a:t>
            </a:r>
            <a:r>
              <a:rPr lang="en-US" sz="3600" kern="1200" baseline="-25000" dirty="0">
                <a:solidFill>
                  <a:srgbClr val="F1FAEE"/>
                </a:solidFill>
                <a:effectLst/>
                <a:ea typeface="+mn-ea"/>
                <a:cs typeface="+mn-cs"/>
              </a:rPr>
              <a:t> </a:t>
            </a:r>
            <a:r>
              <a:rPr lang="en-US" sz="3600" dirty="0">
                <a:solidFill>
                  <a:srgbClr val="F1FAEE"/>
                </a:solidFill>
              </a:rPr>
              <a:t>&lt;  </a:t>
            </a:r>
            <a:r>
              <a:rPr lang="en-US" sz="36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l-GR" sz="36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α</a:t>
            </a:r>
            <a:r>
              <a:rPr lang="en-US" sz="36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 </a:t>
            </a:r>
            <a:r>
              <a:rPr lang="en-US" sz="3600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 </a:t>
            </a:r>
            <a:r>
              <a:rPr lang="en-US" sz="3600" b="1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(True)</a:t>
            </a:r>
            <a:endParaRPr lang="en-US" sz="3600" b="1" baseline="-25000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595011" y="8973998"/>
            <a:ext cx="174362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solidFill>
                  <a:schemeClr val="bg1"/>
                </a:solidFill>
              </a:rPr>
              <a:t>Inference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r>
              <a:rPr lang="en-US" sz="2800" dirty="0">
                <a:solidFill>
                  <a:schemeClr val="bg1"/>
                </a:solidFill>
              </a:rPr>
              <a:t> This shows that Null hypothesis was wrong an we reject H</a:t>
            </a:r>
            <a:r>
              <a:rPr lang="en-US" sz="2800" baseline="-25000" dirty="0">
                <a:solidFill>
                  <a:schemeClr val="bg1"/>
                </a:solidFill>
              </a:rPr>
              <a:t>o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67F8A7F1-A1E3-4132-9893-29A7A38466E5}"/>
              </a:ext>
            </a:extLst>
          </p:cNvPr>
          <p:cNvSpPr/>
          <p:nvPr/>
        </p:nvSpPr>
        <p:spPr>
          <a:xfrm rot="5400000">
            <a:off x="-74061" y="549363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2">
            <a:extLst>
              <a:ext uri="{FF2B5EF4-FFF2-40B4-BE49-F238E27FC236}">
                <a16:creationId xmlns:a16="http://schemas.microsoft.com/office/drawing/2014/main" id="{3693D588-478C-4137-8C2F-D3D3FBF36A2C}"/>
              </a:ext>
            </a:extLst>
          </p:cNvPr>
          <p:cNvGrpSpPr/>
          <p:nvPr/>
        </p:nvGrpSpPr>
        <p:grpSpPr>
          <a:xfrm rot="5400000">
            <a:off x="13389270" y="-3863525"/>
            <a:ext cx="1768209" cy="8791254"/>
            <a:chOff x="0" y="0"/>
            <a:chExt cx="7143766" cy="2486093"/>
          </a:xfrm>
        </p:grpSpPr>
        <p:sp>
          <p:nvSpPr>
            <p:cNvPr id="17" name="AutoShape 13">
              <a:extLst>
                <a:ext uri="{FF2B5EF4-FFF2-40B4-BE49-F238E27FC236}">
                  <a16:creationId xmlns:a16="http://schemas.microsoft.com/office/drawing/2014/main" id="{61B24B25-250F-483A-A1DF-6D2B4695433B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0">
            <a:extLst>
              <a:ext uri="{FF2B5EF4-FFF2-40B4-BE49-F238E27FC236}">
                <a16:creationId xmlns:a16="http://schemas.microsoft.com/office/drawing/2014/main" id="{48758B7F-023C-6E3E-714C-44C6D0068231}"/>
              </a:ext>
            </a:extLst>
          </p:cNvPr>
          <p:cNvSpPr txBox="1"/>
          <p:nvPr/>
        </p:nvSpPr>
        <p:spPr>
          <a:xfrm>
            <a:off x="10478304" y="106855"/>
            <a:ext cx="7504892" cy="854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Hypothesis NO. 3</a:t>
            </a:r>
          </a:p>
        </p:txBody>
      </p:sp>
    </p:spTree>
    <p:extLst>
      <p:ext uri="{BB962C8B-B14F-4D97-AF65-F5344CB8AC3E}">
        <p14:creationId xmlns:p14="http://schemas.microsoft.com/office/powerpoint/2010/main" val="1258830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5" grpId="0"/>
      <p:bldP spid="3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 rot="5400000">
            <a:off x="16868880" y="40404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72731" y="954047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8CB731C-EF2B-4943-9F18-1E5B682D6B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3108" y="2302687"/>
            <a:ext cx="11833664" cy="7317149"/>
          </a:xfrm>
          <a:prstGeom prst="rect">
            <a:avLst/>
          </a:prstGeom>
        </p:spPr>
      </p:pic>
      <p:grpSp>
        <p:nvGrpSpPr>
          <p:cNvPr id="3" name="Group 12">
            <a:extLst>
              <a:ext uri="{FF2B5EF4-FFF2-40B4-BE49-F238E27FC236}">
                <a16:creationId xmlns:a16="http://schemas.microsoft.com/office/drawing/2014/main" id="{183FD8A1-DA49-8560-6EC2-9F223254CAFE}"/>
              </a:ext>
            </a:extLst>
          </p:cNvPr>
          <p:cNvGrpSpPr/>
          <p:nvPr/>
        </p:nvGrpSpPr>
        <p:grpSpPr>
          <a:xfrm rot="5400000">
            <a:off x="6764631" y="-3531586"/>
            <a:ext cx="1768209" cy="8791254"/>
            <a:chOff x="0" y="0"/>
            <a:chExt cx="7143766" cy="2486093"/>
          </a:xfrm>
        </p:grpSpPr>
        <p:sp>
          <p:nvSpPr>
            <p:cNvPr id="5" name="AutoShape 13">
              <a:extLst>
                <a:ext uri="{FF2B5EF4-FFF2-40B4-BE49-F238E27FC236}">
                  <a16:creationId xmlns:a16="http://schemas.microsoft.com/office/drawing/2014/main" id="{BD2BB643-D583-2167-CBB4-4B16C0848325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4B3E92F-5219-425B-BC06-5A09D76A12B4}"/>
              </a:ext>
            </a:extLst>
          </p:cNvPr>
          <p:cNvSpPr txBox="1"/>
          <p:nvPr/>
        </p:nvSpPr>
        <p:spPr>
          <a:xfrm flipH="1">
            <a:off x="3629489" y="370903"/>
            <a:ext cx="8429465" cy="120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8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 NO.</a:t>
            </a:r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 3  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973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5BF7ABD-0661-4F40-88FA-94DAD937664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884B5EA6-28AF-498F-9A7C-14922645CA5F}"/>
              </a:ext>
            </a:extLst>
          </p:cNvPr>
          <p:cNvGrpSpPr/>
          <p:nvPr/>
        </p:nvGrpSpPr>
        <p:grpSpPr>
          <a:xfrm>
            <a:off x="0" y="0"/>
            <a:ext cx="7239000" cy="1313203"/>
            <a:chOff x="0" y="0"/>
            <a:chExt cx="7143766" cy="2486093"/>
          </a:xfrm>
        </p:grpSpPr>
        <p:sp>
          <p:nvSpPr>
            <p:cNvPr id="16" name="AutoShape 13">
              <a:extLst>
                <a:ext uri="{FF2B5EF4-FFF2-40B4-BE49-F238E27FC236}">
                  <a16:creationId xmlns:a16="http://schemas.microsoft.com/office/drawing/2014/main" id="{06D766CD-85E4-4B48-B9E9-F69341F0ED21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39903" y="1242961"/>
            <a:ext cx="12385994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u="none" dirty="0">
                <a:solidFill>
                  <a:srgbClr val="F1FAEE"/>
                </a:solidFill>
              </a:rPr>
              <a:t>Do you use social media for recreational purposes 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1459229" y="3440051"/>
                <a:ext cx="7434072" cy="4173002"/>
              </a:xfrm>
              <a:prstGeom prst="rect">
                <a:avLst/>
              </a:prstGeom>
            </p:spPr>
            <p:txBody>
              <a:bodyPr wrap="square" lIns="0" tIns="0" rIns="0" bIns="0" rtlCol="0" anchor="b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p̂</a:t>
                </a:r>
                <a:r>
                  <a:rPr lang="en-US" sz="2800" dirty="0">
                    <a:solidFill>
                      <a:srgbClr val="F1FAEE"/>
                    </a:solidFill>
                  </a:rPr>
                  <a:t> = portion of students that complete tasks in time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0</a:t>
                </a:r>
                <a:r>
                  <a:rPr lang="en-US" sz="2800" dirty="0">
                    <a:solidFill>
                      <a:srgbClr val="F1FAEE"/>
                    </a:solidFill>
                  </a:rPr>
                  <a:t>  :   P = 0. 7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1</a:t>
                </a:r>
                <a:r>
                  <a:rPr lang="en-US" sz="2800" dirty="0">
                    <a:solidFill>
                      <a:srgbClr val="F1FAEE"/>
                    </a:solidFill>
                  </a:rPr>
                  <a:t>   :   P &gt; 0.7 (one tailed test)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p̂</a:t>
                </a:r>
                <a:r>
                  <a:rPr lang="en-US" sz="28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79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213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𝑜𝑓𝑡𝑒𝑛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1FAEE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l-GR" sz="2800" b="1" i="0" dirty="0">
                    <a:solidFill>
                      <a:schemeClr val="bg1"/>
                    </a:solidFill>
                    <a:effectLst/>
                  </a:rPr>
                  <a:t>α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 = 0.05 (significance level)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Z 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= 0.95 (confidence leve</a:t>
                </a:r>
                <a:r>
                  <a:rPr lang="en-US" sz="2800" dirty="0">
                    <a:solidFill>
                      <a:schemeClr val="bg1"/>
                    </a:solidFill>
                  </a:rPr>
                  <a:t>l)</a:t>
                </a:r>
                <a:endParaRPr lang="en-US" sz="2800" i="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>
          <p:sp>
            <p:nvSpPr>
              <p:cNvPr id="11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229" y="3440051"/>
                <a:ext cx="7434072" cy="4173002"/>
              </a:xfrm>
              <a:prstGeom prst="rect">
                <a:avLst/>
              </a:prstGeom>
              <a:blipFill>
                <a:blip r:embed="rId2"/>
                <a:stretch>
                  <a:fillRect l="-2869" r="-2705" b="-5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2"/>
          <p:cNvSpPr txBox="1"/>
          <p:nvPr/>
        </p:nvSpPr>
        <p:spPr>
          <a:xfrm>
            <a:off x="2276671" y="6085821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C4517E2-4E01-C5FC-64F0-F4A816155BC3}"/>
              </a:ext>
            </a:extLst>
          </p:cNvPr>
          <p:cNvSpPr txBox="1"/>
          <p:nvPr/>
        </p:nvSpPr>
        <p:spPr>
          <a:xfrm>
            <a:off x="-2" y="152920"/>
            <a:ext cx="7089694" cy="854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Hypothesis NO.4</a:t>
            </a:r>
            <a:r>
              <a:rPr lang="en-US" sz="6000" dirty="0">
                <a:solidFill>
                  <a:srgbClr val="F1FAEE"/>
                </a:solidFill>
                <a:latin typeface="Glacial Indifference"/>
              </a:rPr>
              <a:t> </a:t>
            </a:r>
            <a:endParaRPr lang="en-US" sz="5431" u="none" dirty="0">
              <a:solidFill>
                <a:srgbClr val="F1FAEE"/>
              </a:solidFill>
              <a:latin typeface="Solomon Sans Heavy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C3C2-FD51-FD86-E692-68710E03D70B}"/>
              </a:ext>
            </a:extLst>
          </p:cNvPr>
          <p:cNvSpPr txBox="1"/>
          <p:nvPr/>
        </p:nvSpPr>
        <p:spPr>
          <a:xfrm>
            <a:off x="587501" y="2193396"/>
            <a:ext cx="171129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3200" dirty="0">
                <a:solidFill>
                  <a:srgbClr val="F1FAEE"/>
                </a:solidFill>
              </a:rPr>
              <a:t>The claim is </a:t>
            </a:r>
            <a:r>
              <a:rPr lang="en-US" sz="3200" b="1" dirty="0">
                <a:solidFill>
                  <a:srgbClr val="F1FAEE"/>
                </a:solidFill>
              </a:rPr>
              <a:t>70%</a:t>
            </a:r>
            <a:r>
              <a:rPr lang="en-US" sz="3200" dirty="0">
                <a:solidFill>
                  <a:srgbClr val="F1FAEE"/>
                </a:solidFill>
              </a:rPr>
              <a:t> people use social media for recreational purpose. (Taking </a:t>
            </a:r>
            <a:r>
              <a:rPr lang="en-US" sz="3200" b="1" dirty="0">
                <a:solidFill>
                  <a:srgbClr val="F1FAEE"/>
                </a:solidFill>
              </a:rPr>
              <a:t>“</a:t>
            </a:r>
            <a:r>
              <a:rPr lang="en-US" sz="3200" b="1" i="1" u="sng" dirty="0">
                <a:solidFill>
                  <a:srgbClr val="F1FAEE"/>
                </a:solidFill>
              </a:rPr>
              <a:t>OFTEN</a:t>
            </a:r>
            <a:r>
              <a:rPr lang="en-US" sz="3200" b="1" dirty="0">
                <a:solidFill>
                  <a:srgbClr val="F1FAEE"/>
                </a:solidFill>
              </a:rPr>
              <a:t>”</a:t>
            </a:r>
            <a:r>
              <a:rPr lang="en-US" sz="3200" dirty="0">
                <a:solidFill>
                  <a:srgbClr val="F1FAEE"/>
                </a:solidFill>
              </a:rPr>
              <a:t> as success).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1D0FE-1192-663C-8B4B-906C986B7E94}"/>
              </a:ext>
            </a:extLst>
          </p:cNvPr>
          <p:cNvCxnSpPr>
            <a:cxnSpLocks/>
          </p:cNvCxnSpPr>
          <p:nvPr/>
        </p:nvCxnSpPr>
        <p:spPr>
          <a:xfrm>
            <a:off x="9296400" y="3771900"/>
            <a:ext cx="0" cy="405575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CC6D4B2-B3D2-2712-B9BC-CB9F0C8C6B55}"/>
              </a:ext>
            </a:extLst>
          </p:cNvPr>
          <p:cNvSpPr txBox="1"/>
          <p:nvPr/>
        </p:nvSpPr>
        <p:spPr>
          <a:xfrm>
            <a:off x="9970967" y="4410541"/>
            <a:ext cx="8105448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err="1">
                <a:solidFill>
                  <a:srgbClr val="F1FAEE"/>
                </a:solidFill>
              </a:rPr>
              <a:t>Z</a:t>
            </a:r>
            <a:r>
              <a:rPr lang="en-US" sz="3200" b="1" baseline="-25000" dirty="0" err="1">
                <a:solidFill>
                  <a:srgbClr val="F1FAEE"/>
                </a:solidFill>
              </a:rPr>
              <a:t>cal</a:t>
            </a:r>
            <a:r>
              <a:rPr lang="en-US" sz="3200" b="1" baseline="-25000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= 1.045( After calculation)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Z</a:t>
            </a:r>
            <a:r>
              <a:rPr lang="el-GR" sz="3200" b="1" i="0" baseline="-25000" dirty="0">
                <a:solidFill>
                  <a:schemeClr val="bg1"/>
                </a:solidFill>
                <a:effectLst/>
              </a:rPr>
              <a:t>α</a:t>
            </a:r>
            <a:r>
              <a:rPr lang="en-US" sz="32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 = 1.645 (one tailed)</a:t>
            </a:r>
          </a:p>
          <a:p>
            <a:pPr>
              <a:lnSpc>
                <a:spcPct val="150000"/>
              </a:lnSpc>
            </a:pPr>
            <a:r>
              <a:rPr lang="en-US" sz="3200" b="1" kern="12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n-US" sz="3200" b="1" kern="1200" baseline="-250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cal</a:t>
            </a: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  </a:t>
            </a:r>
            <a:r>
              <a:rPr lang="en-US" sz="3200" dirty="0">
                <a:solidFill>
                  <a:srgbClr val="F1FAEE"/>
                </a:solidFill>
              </a:rPr>
              <a:t>&lt;  </a:t>
            </a: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l-GR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α</a:t>
            </a:r>
            <a:r>
              <a:rPr lang="en-US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 </a:t>
            </a:r>
            <a:r>
              <a:rPr lang="en-US" sz="3200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(False)</a:t>
            </a:r>
            <a:endParaRPr lang="en-US" sz="3200" baseline="-25000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739903" y="8568842"/>
            <a:ext cx="17112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solidFill>
                  <a:schemeClr val="bg1"/>
                </a:solidFill>
              </a:rPr>
              <a:t>Inference</a:t>
            </a:r>
            <a:r>
              <a:rPr lang="en-US" sz="3200" dirty="0">
                <a:solidFill>
                  <a:schemeClr val="bg1"/>
                </a:solidFill>
              </a:rPr>
              <a:t>: The Null hypothesis was right and we fail to reject H</a:t>
            </a:r>
            <a:r>
              <a:rPr lang="en-US" sz="3200" baseline="-25000" dirty="0">
                <a:solidFill>
                  <a:schemeClr val="bg1"/>
                </a:solidFill>
              </a:rPr>
              <a:t>o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C2BF8BA-DF15-4823-8446-8C62B49B9030}"/>
              </a:ext>
            </a:extLst>
          </p:cNvPr>
          <p:cNvSpPr/>
          <p:nvPr/>
        </p:nvSpPr>
        <p:spPr>
          <a:xfrm rot="5400000">
            <a:off x="17161492" y="835942"/>
            <a:ext cx="765569" cy="188953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5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2">
            <a:extLst>
              <a:ext uri="{FF2B5EF4-FFF2-40B4-BE49-F238E27FC236}">
                <a16:creationId xmlns:a16="http://schemas.microsoft.com/office/drawing/2014/main" id="{384FC1FA-2B0B-4BE2-ABF5-A8AF722ECC30}"/>
              </a:ext>
            </a:extLst>
          </p:cNvPr>
          <p:cNvGrpSpPr/>
          <p:nvPr/>
        </p:nvGrpSpPr>
        <p:grpSpPr>
          <a:xfrm rot="5400000">
            <a:off x="12331245" y="317956"/>
            <a:ext cx="5829301" cy="5193392"/>
            <a:chOff x="0" y="0"/>
            <a:chExt cx="7143766" cy="2486093"/>
          </a:xfrm>
        </p:grpSpPr>
        <p:sp>
          <p:nvSpPr>
            <p:cNvPr id="23" name="AutoShape 13">
              <a:extLst>
                <a:ext uri="{FF2B5EF4-FFF2-40B4-BE49-F238E27FC236}">
                  <a16:creationId xmlns:a16="http://schemas.microsoft.com/office/drawing/2014/main" id="{3C26BFA0-547C-4436-91FF-6771A26BE7D9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Freeform 2"/>
          <p:cNvSpPr/>
          <p:nvPr/>
        </p:nvSpPr>
        <p:spPr>
          <a:xfrm rot="18696146">
            <a:off x="16737296" y="8677941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17"/>
          <p:cNvSpPr/>
          <p:nvPr/>
        </p:nvSpPr>
        <p:spPr>
          <a:xfrm>
            <a:off x="872731" y="954047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3360EC-8503-44D4-B6FC-BCD2B4C097B5}"/>
              </a:ext>
            </a:extLst>
          </p:cNvPr>
          <p:cNvSpPr txBox="1"/>
          <p:nvPr/>
        </p:nvSpPr>
        <p:spPr>
          <a:xfrm flipH="1">
            <a:off x="12652442" y="1951926"/>
            <a:ext cx="51933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4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4800" dirty="0">
                <a:solidFill>
                  <a:schemeClr val="bg1"/>
                </a:solidFill>
                <a:latin typeface="Solomon Sans Heavy"/>
              </a:rPr>
              <a:t> NO.</a:t>
            </a:r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 4  </a:t>
            </a:r>
          </a:p>
          <a:p>
            <a:pPr algn="ctr"/>
            <a:r>
              <a:rPr lang="en-US" sz="4800" u="none" dirty="0">
                <a:solidFill>
                  <a:schemeClr val="bg1"/>
                </a:solidFill>
                <a:latin typeface="Solomon Sans Heavy"/>
              </a:rPr>
              <a:t>(Cont</a:t>
            </a:r>
            <a:r>
              <a:rPr lang="en-US" sz="480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4800" u="none" dirty="0">
              <a:solidFill>
                <a:schemeClr val="bg1"/>
              </a:solidFill>
              <a:latin typeface="Solomon Sans Heavy"/>
            </a:endParaRPr>
          </a:p>
          <a:p>
            <a:endParaRPr lang="en-US" sz="1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B9F3C5-57B9-4FC1-8DF0-E35F99C4B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989" y="1951926"/>
            <a:ext cx="10323148" cy="638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84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4C3111A-E307-4883-94FF-825F04F4A443}"/>
              </a:ext>
            </a:extLst>
          </p:cNvPr>
          <p:cNvSpPr/>
          <p:nvPr/>
        </p:nvSpPr>
        <p:spPr>
          <a:xfrm>
            <a:off x="9525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155885" y="660412"/>
            <a:ext cx="7281865" cy="774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u="none" dirty="0">
                <a:solidFill>
                  <a:srgbClr val="F1FAEE"/>
                </a:solidFill>
              </a:rPr>
              <a:t>Do you </a:t>
            </a:r>
            <a:r>
              <a:rPr lang="en-US" sz="4400" b="1" dirty="0">
                <a:solidFill>
                  <a:srgbClr val="F1FAEE"/>
                </a:solidFill>
              </a:rPr>
              <a:t>prefer working alone</a:t>
            </a:r>
            <a:r>
              <a:rPr lang="en-US" sz="4400" b="1" u="none" dirty="0">
                <a:solidFill>
                  <a:srgbClr val="F1FAEE"/>
                </a:solidFill>
              </a:rPr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1"/>
              <p:cNvSpPr txBox="1"/>
              <p:nvPr/>
            </p:nvSpPr>
            <p:spPr>
              <a:xfrm>
                <a:off x="1616619" y="3254908"/>
                <a:ext cx="8718426" cy="4173002"/>
              </a:xfrm>
              <a:prstGeom prst="rect">
                <a:avLst/>
              </a:prstGeom>
            </p:spPr>
            <p:txBody>
              <a:bodyPr wrap="square" lIns="0" tIns="0" rIns="0" bIns="0" rtlCol="0" anchor="b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</a:t>
                </a:r>
                <a:r>
                  <a:rPr lang="en-US" sz="2800" dirty="0">
                    <a:solidFill>
                      <a:srgbClr val="F1FAEE"/>
                    </a:solidFill>
                  </a:rPr>
                  <a:t>̂ = portion of students that complete tasks in time </a:t>
                </a:r>
              </a:p>
              <a:p>
                <a:pPr algn="l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0</a:t>
                </a:r>
                <a:r>
                  <a:rPr lang="en-US" sz="2800" dirty="0">
                    <a:solidFill>
                      <a:srgbClr val="F1FAEE"/>
                    </a:solidFill>
                  </a:rPr>
                  <a:t>  :   P = 0. 8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H</a:t>
                </a:r>
                <a:r>
                  <a:rPr lang="en-US" sz="2800" b="1" baseline="-25000" dirty="0">
                    <a:solidFill>
                      <a:srgbClr val="F1FAEE"/>
                    </a:solidFill>
                  </a:rPr>
                  <a:t>1</a:t>
                </a:r>
                <a:r>
                  <a:rPr lang="en-US" sz="2800" dirty="0">
                    <a:solidFill>
                      <a:srgbClr val="F1FAEE"/>
                    </a:solidFill>
                  </a:rPr>
                  <a:t>   :  P </a:t>
                </a:r>
                <a:r>
                  <a:rPr lang="en-US" sz="2800" dirty="0">
                    <a:solidFill>
                      <a:srgbClr val="F1FAEE"/>
                    </a:solidFill>
                    <a:latin typeface="Glacial Indifference"/>
                  </a:rPr>
                  <a:t>≠</a:t>
                </a:r>
                <a:r>
                  <a:rPr lang="en-US" sz="2800" dirty="0">
                    <a:solidFill>
                      <a:srgbClr val="F1FAEE"/>
                    </a:solidFill>
                  </a:rPr>
                  <a:t>  0.8 (two tailed test)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p̂ </a:t>
                </a:r>
                <a:r>
                  <a:rPr lang="en-US" sz="2800" dirty="0">
                    <a:solidFill>
                      <a:srgbClr val="F1FAEE"/>
                    </a:solidFill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213</m:t>
                        </m:r>
                      </m:den>
                    </m:f>
                  </m:oMath>
                </a14:m>
                <a:r>
                  <a:rPr lang="en-US" sz="28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𝑝𝑒𝑜𝑝𝑙𝑒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𝑚𝑎𝑟𝑘𝑒𝑑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𝑜𝑓𝑡𝑒𝑛</m:t>
                        </m:r>
                      </m:num>
                      <m:den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𝑠𝑖𝑧𝑒</m:t>
                        </m:r>
                        <m:r>
                          <a:rPr lang="en-US" sz="2800" b="0" i="1" dirty="0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800" dirty="0">
                  <a:solidFill>
                    <a:srgbClr val="F1FAEE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l-GR" sz="2800" b="1" i="0" dirty="0">
                    <a:solidFill>
                      <a:schemeClr val="bg1"/>
                    </a:solidFill>
                    <a:effectLst/>
                  </a:rPr>
                  <a:t>α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 = 0.05 (significance level)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F1FAEE"/>
                    </a:solidFill>
                  </a:rPr>
                  <a:t>Z</a:t>
                </a:r>
                <a:r>
                  <a:rPr lang="en-US" sz="2800" dirty="0">
                    <a:solidFill>
                      <a:srgbClr val="F1FAEE"/>
                    </a:solidFill>
                  </a:rPr>
                  <a:t> </a:t>
                </a:r>
                <a:r>
                  <a:rPr lang="en-US" sz="2800" i="0" dirty="0">
                    <a:solidFill>
                      <a:schemeClr val="bg1"/>
                    </a:solidFill>
                    <a:effectLst/>
                  </a:rPr>
                  <a:t>= 0.95 (confidence leve</a:t>
                </a:r>
                <a:r>
                  <a:rPr lang="en-US" sz="2800" dirty="0">
                    <a:solidFill>
                      <a:schemeClr val="bg1"/>
                    </a:solidFill>
                  </a:rPr>
                  <a:t>l)</a:t>
                </a:r>
                <a:endParaRPr lang="en-US" sz="2800" i="0" dirty="0">
                  <a:solidFill>
                    <a:schemeClr val="bg1"/>
                  </a:solidFill>
                  <a:effectLst/>
                </a:endParaRPr>
              </a:p>
            </p:txBody>
          </p:sp>
        </mc:Choice>
        <mc:Fallback>
          <p:sp>
            <p:nvSpPr>
              <p:cNvPr id="11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619" y="3254908"/>
                <a:ext cx="8718426" cy="4173002"/>
              </a:xfrm>
              <a:prstGeom prst="rect">
                <a:avLst/>
              </a:prstGeom>
              <a:blipFill>
                <a:blip r:embed="rId2"/>
                <a:stretch>
                  <a:fillRect l="-2448" b="-5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2"/>
          <p:cNvSpPr txBox="1"/>
          <p:nvPr/>
        </p:nvSpPr>
        <p:spPr>
          <a:xfrm>
            <a:off x="2276671" y="6085821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BAC3C2-FD51-FD86-E692-68710E03D70B}"/>
              </a:ext>
            </a:extLst>
          </p:cNvPr>
          <p:cNvSpPr txBox="1"/>
          <p:nvPr/>
        </p:nvSpPr>
        <p:spPr>
          <a:xfrm>
            <a:off x="795306" y="1915798"/>
            <a:ext cx="106939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>
              <a:spcBef>
                <a:spcPct val="0"/>
              </a:spcBef>
            </a:pPr>
            <a:r>
              <a:rPr lang="en-US" sz="2900" dirty="0">
                <a:solidFill>
                  <a:srgbClr val="F1FAEE"/>
                </a:solidFill>
              </a:rPr>
              <a:t>We are claiming that 80% people prefer working alone. (Taking </a:t>
            </a:r>
            <a:r>
              <a:rPr lang="en-US" sz="2900" b="1" dirty="0">
                <a:solidFill>
                  <a:srgbClr val="F1FAEE"/>
                </a:solidFill>
              </a:rPr>
              <a:t>“</a:t>
            </a:r>
            <a:r>
              <a:rPr lang="en-US" sz="2900" b="1" i="1" u="sng" dirty="0">
                <a:solidFill>
                  <a:srgbClr val="F1FAEE"/>
                </a:solidFill>
              </a:rPr>
              <a:t>YES</a:t>
            </a:r>
            <a:r>
              <a:rPr lang="en-US" sz="2900" b="1" dirty="0">
                <a:solidFill>
                  <a:srgbClr val="F1FAEE"/>
                </a:solidFill>
              </a:rPr>
              <a:t>”</a:t>
            </a:r>
            <a:r>
              <a:rPr lang="en-US" sz="2900" dirty="0">
                <a:solidFill>
                  <a:srgbClr val="F1FAEE"/>
                </a:solidFill>
              </a:rPr>
              <a:t> as success).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B01D0FE-1192-663C-8B4B-906C986B7E94}"/>
              </a:ext>
            </a:extLst>
          </p:cNvPr>
          <p:cNvCxnSpPr>
            <a:cxnSpLocks/>
          </p:cNvCxnSpPr>
          <p:nvPr/>
        </p:nvCxnSpPr>
        <p:spPr>
          <a:xfrm>
            <a:off x="9437750" y="3525344"/>
            <a:ext cx="0" cy="3902566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CC6D4B2-B3D2-2712-B9BC-CB9F0C8C6B55}"/>
              </a:ext>
            </a:extLst>
          </p:cNvPr>
          <p:cNvSpPr txBox="1"/>
          <p:nvPr/>
        </p:nvSpPr>
        <p:spPr>
          <a:xfrm>
            <a:off x="10013390" y="3689004"/>
            <a:ext cx="8105448" cy="2499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600" b="1" dirty="0" err="1">
                <a:solidFill>
                  <a:srgbClr val="F1FAEE"/>
                </a:solidFill>
              </a:rPr>
              <a:t>Z</a:t>
            </a:r>
            <a:r>
              <a:rPr lang="en-US" sz="3600" b="1" baseline="-25000" dirty="0" err="1">
                <a:solidFill>
                  <a:srgbClr val="F1FAEE"/>
                </a:solidFill>
              </a:rPr>
              <a:t>cal</a:t>
            </a:r>
            <a:r>
              <a:rPr lang="en-US" sz="3600" b="1" baseline="-25000" dirty="0">
                <a:solidFill>
                  <a:srgbClr val="F1FAEE"/>
                </a:solidFill>
              </a:rPr>
              <a:t> </a:t>
            </a:r>
            <a:r>
              <a:rPr lang="en-US" sz="3600" dirty="0">
                <a:solidFill>
                  <a:srgbClr val="F1FAEE"/>
                </a:solidFill>
              </a:rPr>
              <a:t>= -2.638 ( After calculation)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F1FAEE"/>
                </a:solidFill>
              </a:rPr>
              <a:t>Z</a:t>
            </a:r>
            <a:r>
              <a:rPr lang="el-GR" sz="3600" b="1" i="0" baseline="-25000" dirty="0">
                <a:solidFill>
                  <a:schemeClr val="bg1"/>
                </a:solidFill>
                <a:effectLst/>
              </a:rPr>
              <a:t>α</a:t>
            </a:r>
            <a:r>
              <a:rPr lang="en-US" sz="3600" b="1" i="0" baseline="-25000" dirty="0">
                <a:solidFill>
                  <a:schemeClr val="bg1"/>
                </a:solidFill>
                <a:effectLst/>
              </a:rPr>
              <a:t>/2 </a:t>
            </a:r>
            <a:r>
              <a:rPr lang="en-US" sz="3600" b="1" baseline="-25000" dirty="0">
                <a:solidFill>
                  <a:srgbClr val="F1FAEE"/>
                </a:solidFill>
              </a:rPr>
              <a:t> </a:t>
            </a:r>
            <a:r>
              <a:rPr lang="en-US" sz="3600" dirty="0">
                <a:solidFill>
                  <a:srgbClr val="F1FAEE"/>
                </a:solidFill>
              </a:rPr>
              <a:t>= 1.96 (two tailed)</a:t>
            </a:r>
          </a:p>
          <a:p>
            <a:pPr>
              <a:lnSpc>
                <a:spcPct val="150000"/>
              </a:lnSpc>
            </a:pPr>
            <a:r>
              <a:rPr lang="en-US" sz="36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|</a:t>
            </a:r>
            <a:r>
              <a:rPr lang="en-US" sz="3600" kern="12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n-US" sz="3600" kern="1200" baseline="-250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cal</a:t>
            </a:r>
            <a:r>
              <a:rPr lang="en-US" sz="36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| &gt;</a:t>
            </a:r>
            <a:r>
              <a:rPr lang="en-US" sz="3600" dirty="0">
                <a:solidFill>
                  <a:srgbClr val="F1FAEE"/>
                </a:solidFill>
              </a:rPr>
              <a:t> </a:t>
            </a:r>
            <a:r>
              <a:rPr lang="en-US" sz="36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l-GR" sz="36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α</a:t>
            </a:r>
            <a:r>
              <a:rPr lang="en-US" sz="36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/2 </a:t>
            </a:r>
            <a:r>
              <a:rPr lang="en-US" sz="3600" b="1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(True)</a:t>
            </a:r>
            <a:endParaRPr lang="en-US" sz="3600" b="1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795306" y="8371202"/>
            <a:ext cx="17167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u="sng" dirty="0">
                <a:solidFill>
                  <a:schemeClr val="bg1"/>
                </a:solidFill>
              </a:rPr>
              <a:t>Inference</a:t>
            </a:r>
            <a:r>
              <a:rPr lang="en-US" sz="3200" dirty="0">
                <a:solidFill>
                  <a:schemeClr val="bg1"/>
                </a:solidFill>
              </a:rPr>
              <a:t>:</a:t>
            </a:r>
            <a:r>
              <a:rPr lang="en-US" sz="2800" dirty="0">
                <a:solidFill>
                  <a:schemeClr val="bg1"/>
                </a:solidFill>
              </a:rPr>
              <a:t> The Null hypothesis was wrong and we will reject H</a:t>
            </a:r>
            <a:r>
              <a:rPr lang="en-US" sz="2800" baseline="-25000" dirty="0">
                <a:solidFill>
                  <a:schemeClr val="bg1"/>
                </a:solidFill>
              </a:rPr>
              <a:t>o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C8C31FFF-D5A9-4853-96F4-8A570404EC6C}"/>
              </a:ext>
            </a:extLst>
          </p:cNvPr>
          <p:cNvSpPr/>
          <p:nvPr/>
        </p:nvSpPr>
        <p:spPr>
          <a:xfrm>
            <a:off x="113839" y="35248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55FF239B-429D-E65F-5242-751C9F0DE865}"/>
              </a:ext>
            </a:extLst>
          </p:cNvPr>
          <p:cNvGrpSpPr/>
          <p:nvPr/>
        </p:nvGrpSpPr>
        <p:grpSpPr>
          <a:xfrm rot="5400000">
            <a:off x="13073294" y="-2593460"/>
            <a:ext cx="4173002" cy="7281866"/>
            <a:chOff x="0" y="0"/>
            <a:chExt cx="7143766" cy="2486093"/>
          </a:xfrm>
        </p:grpSpPr>
        <p:sp>
          <p:nvSpPr>
            <p:cNvPr id="3" name="AutoShape 13">
              <a:extLst>
                <a:ext uri="{FF2B5EF4-FFF2-40B4-BE49-F238E27FC236}">
                  <a16:creationId xmlns:a16="http://schemas.microsoft.com/office/drawing/2014/main" id="{D1B362D4-0164-9B88-22DA-9F43CF2A01CA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FC4517E2-4E01-C5FC-64F0-F4A816155BC3}"/>
              </a:ext>
            </a:extLst>
          </p:cNvPr>
          <p:cNvSpPr txBox="1"/>
          <p:nvPr/>
        </p:nvSpPr>
        <p:spPr>
          <a:xfrm>
            <a:off x="11459589" y="1047473"/>
            <a:ext cx="7281865" cy="854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Hypothesis NO. 5</a:t>
            </a:r>
          </a:p>
        </p:txBody>
      </p:sp>
    </p:spTree>
    <p:extLst>
      <p:ext uri="{BB962C8B-B14F-4D97-AF65-F5344CB8AC3E}">
        <p14:creationId xmlns:p14="http://schemas.microsoft.com/office/powerpoint/2010/main" val="170090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5" grpId="0"/>
      <p:bldP spid="35" grpId="0"/>
      <p:bldP spid="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0" y="0"/>
            <a:ext cx="6008401" cy="3600832"/>
            <a:chOff x="4801569" y="-12658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4801569" y="-12658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2" name="Freeform 2"/>
          <p:cNvSpPr/>
          <p:nvPr/>
        </p:nvSpPr>
        <p:spPr>
          <a:xfrm rot="16200000">
            <a:off x="-50759" y="8648346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7" name="Freeform 17"/>
          <p:cNvSpPr/>
          <p:nvPr/>
        </p:nvSpPr>
        <p:spPr>
          <a:xfrm>
            <a:off x="17031558" y="329479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 rot="5400000">
            <a:off x="5873788" y="3246585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83120" y="3709376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8CC9D97-93C2-416C-A35E-728C681E8A0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939" y="3194581"/>
            <a:ext cx="10937369" cy="67629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B854CFC-88D4-41FC-8F0A-18519A1A6A5A}"/>
              </a:ext>
            </a:extLst>
          </p:cNvPr>
          <p:cNvSpPr txBox="1"/>
          <p:nvPr/>
        </p:nvSpPr>
        <p:spPr>
          <a:xfrm flipH="1">
            <a:off x="26626" y="780136"/>
            <a:ext cx="6008400" cy="2040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8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 NO.5</a:t>
            </a:r>
          </a:p>
          <a:p>
            <a:pPr algn="ctr"/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143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DBEA7C-AFC8-40CA-B2E2-43331CE765F2}"/>
              </a:ext>
            </a:extLst>
          </p:cNvPr>
          <p:cNvSpPr/>
          <p:nvPr/>
        </p:nvSpPr>
        <p:spPr>
          <a:xfrm>
            <a:off x="-36443" y="-63688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DF0A0B55-DEA3-4978-A6A8-7CFFDDF39E91}"/>
              </a:ext>
            </a:extLst>
          </p:cNvPr>
          <p:cNvGrpSpPr/>
          <p:nvPr/>
        </p:nvGrpSpPr>
        <p:grpSpPr>
          <a:xfrm>
            <a:off x="5105400" y="18222"/>
            <a:ext cx="8229600" cy="1235983"/>
            <a:chOff x="-423611" y="138353"/>
            <a:chExt cx="7143766" cy="2486093"/>
          </a:xfrm>
        </p:grpSpPr>
        <p:sp>
          <p:nvSpPr>
            <p:cNvPr id="13" name="AutoShape 13">
              <a:extLst>
                <a:ext uri="{FF2B5EF4-FFF2-40B4-BE49-F238E27FC236}">
                  <a16:creationId xmlns:a16="http://schemas.microsoft.com/office/drawing/2014/main" id="{C3973A9A-1430-4D59-9E29-8BBB2EB9BC23}"/>
                </a:ext>
              </a:extLst>
            </p:cNvPr>
            <p:cNvSpPr/>
            <p:nvPr/>
          </p:nvSpPr>
          <p:spPr>
            <a:xfrm>
              <a:off x="-423611" y="138353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3229" y="1301771"/>
            <a:ext cx="18234990" cy="760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1FAEE"/>
                </a:solidFill>
              </a:rPr>
              <a:t>Testing extent of procrastination between those who play sports vs those who don’t</a:t>
            </a:r>
            <a:r>
              <a:rPr lang="en-US" sz="4000" b="1" u="none" dirty="0">
                <a:solidFill>
                  <a:srgbClr val="F1FAEE"/>
                </a:solidFill>
              </a:rPr>
              <a:t>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76671" y="6085821"/>
            <a:ext cx="6876854" cy="446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48"/>
              </a:lnSpc>
            </a:pPr>
            <a:endParaRPr lang="en-US" sz="2960" dirty="0">
              <a:solidFill>
                <a:srgbClr val="F1FAEE"/>
              </a:solidFill>
              <a:latin typeface="Glacial Indifference"/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C4517E2-4E01-C5FC-64F0-F4A816155BC3}"/>
              </a:ext>
            </a:extLst>
          </p:cNvPr>
          <p:cNvSpPr txBox="1"/>
          <p:nvPr/>
        </p:nvSpPr>
        <p:spPr>
          <a:xfrm>
            <a:off x="2521752" y="211387"/>
            <a:ext cx="13012225" cy="854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517"/>
              </a:lnSpc>
              <a:spcBef>
                <a:spcPct val="0"/>
              </a:spcBef>
            </a:pPr>
            <a:r>
              <a:rPr lang="en-US" sz="5431" u="none" dirty="0">
                <a:solidFill>
                  <a:srgbClr val="F1FAEE"/>
                </a:solidFill>
                <a:latin typeface="Solomon Sans Heavy"/>
              </a:rPr>
              <a:t>Hypothesis # 6</a:t>
            </a:r>
            <a:r>
              <a:rPr lang="en-US" sz="6000" dirty="0">
                <a:solidFill>
                  <a:srgbClr val="F1FAEE"/>
                </a:solidFill>
                <a:latin typeface="Glacial Indifference"/>
              </a:rPr>
              <a:t> </a:t>
            </a:r>
            <a:endParaRPr lang="en-US" sz="5431" u="none" dirty="0">
              <a:solidFill>
                <a:srgbClr val="F1FAEE"/>
              </a:solidFill>
              <a:latin typeface="Solomon Sans Heavy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AC3C2-FD51-FD86-E692-68710E03D70B}"/>
                  </a:ext>
                </a:extLst>
              </p:cNvPr>
              <p:cNvSpPr txBox="1"/>
              <p:nvPr/>
            </p:nvSpPr>
            <p:spPr>
              <a:xfrm>
                <a:off x="878587" y="2298090"/>
                <a:ext cx="17112997" cy="10967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lvl="0" indent="0" algn="l">
                  <a:spcBef>
                    <a:spcPct val="0"/>
                  </a:spcBef>
                </a:pPr>
                <a:r>
                  <a:rPr lang="en-US" sz="3200" dirty="0">
                    <a:solidFill>
                      <a:srgbClr val="F1FAEE"/>
                    </a:solidFill>
                  </a:rPr>
                  <a:t>We claimed that percentage of people that indulge in physical sports activities procrastinate same as those who don’t take part in physical sports . </a:t>
                </a:r>
              </a:p>
              <a:p>
                <a:pPr marL="457200" lvl="0" indent="-457200" algn="l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P1 = Those who indulge in sports activities (Taking “</a:t>
                </a:r>
                <a:r>
                  <a:rPr lang="en-US" sz="3200" b="1" i="1" u="sng" dirty="0">
                    <a:solidFill>
                      <a:srgbClr val="F1FAEE"/>
                    </a:solidFill>
                  </a:rPr>
                  <a:t>OFTEN</a:t>
                </a:r>
                <a:r>
                  <a:rPr lang="en-US" sz="3200" dirty="0">
                    <a:solidFill>
                      <a:srgbClr val="F1FAEE"/>
                    </a:solidFill>
                  </a:rPr>
                  <a:t>” as success)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P2 = Those who don’t indulge in sports activities (Taking “</a:t>
                </a:r>
                <a:r>
                  <a:rPr lang="en-US" sz="3200" b="1" i="1" u="sng" dirty="0">
                    <a:solidFill>
                      <a:srgbClr val="F1FAEE"/>
                    </a:solidFill>
                  </a:rPr>
                  <a:t>RARELY</a:t>
                </a:r>
                <a:r>
                  <a:rPr lang="en-US" sz="3200" dirty="0">
                    <a:solidFill>
                      <a:srgbClr val="F1FAEE"/>
                    </a:solidFill>
                  </a:rPr>
                  <a:t>” as success)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n1 = Play sport often sample = 41 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n2 = Play sport rarely sample = 42</a:t>
                </a: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p̂1 = corresponding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𝑠𝑢𝑐𝑐𝑒𝑠𝑠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1FAEE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p̂2 = corresponding ratio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𝑠𝑢𝑐𝑐𝑒𝑠𝑠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𝑠𝑎𝑚𝑝𝑙𝑒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den>
                    </m:f>
                  </m:oMath>
                </a14:m>
                <a:endParaRPr lang="en-US" sz="3200" dirty="0">
                  <a:solidFill>
                    <a:srgbClr val="F1FAEE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Wingdings" panose="05000000000000000000" pitchFamily="2" charset="2"/>
                  <a:buChar char="§"/>
                </a:pPr>
                <a:r>
                  <a:rPr lang="en-US" sz="3200" dirty="0">
                    <a:solidFill>
                      <a:srgbClr val="F1FAEE"/>
                    </a:solidFill>
                  </a:rPr>
                  <a:t>P c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</m:den>
                    </m:f>
                    <m:r>
                      <a:rPr lang="en-US" sz="3200" b="0" i="0" smtClean="0">
                        <a:solidFill>
                          <a:srgbClr val="F1FAEE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,        	q c = 1- Pc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US" sz="3200" b="0" i="1" smtClean="0">
                            <a:solidFill>
                              <a:srgbClr val="F1FAEE"/>
                            </a:solidFill>
                            <a:latin typeface="Cambria Math" panose="02040503050406030204" pitchFamily="18" charset="0"/>
                          </a:rPr>
                          <m:t>83</m:t>
                        </m:r>
                      </m:den>
                    </m:f>
                  </m:oMath>
                </a14:m>
                <a:r>
                  <a:rPr lang="en-US" sz="3200" dirty="0">
                    <a:solidFill>
                      <a:srgbClr val="F1FAEE"/>
                    </a:solidFill>
                  </a:rPr>
                  <a:t> 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endParaRPr lang="en-US" sz="3200" b="1" dirty="0">
                  <a:solidFill>
                    <a:srgbClr val="F1FAEE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sz="3200" b="0" dirty="0">
                  <a:solidFill>
                    <a:srgbClr val="F1FAEE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sz="3200" b="1" dirty="0">
                  <a:solidFill>
                    <a:srgbClr val="F1FAEE"/>
                  </a:solidFill>
                </a:endParaRPr>
              </a:p>
              <a:p>
                <a:pPr marL="457200" indent="-457200">
                  <a:lnSpc>
                    <a:spcPct val="150000"/>
                  </a:lnSpc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endParaRPr lang="en-US" sz="3200" b="1" dirty="0">
                  <a:solidFill>
                    <a:srgbClr val="F1FAEE"/>
                  </a:solidFill>
                </a:endParaRPr>
              </a:p>
              <a:p>
                <a:pPr marL="0" lvl="0" indent="0" algn="l">
                  <a:lnSpc>
                    <a:spcPct val="150000"/>
                  </a:lnSpc>
                  <a:spcBef>
                    <a:spcPct val="0"/>
                  </a:spcBef>
                </a:pPr>
                <a:endParaRPr lang="en-US" sz="3200" b="1" dirty="0">
                  <a:solidFill>
                    <a:srgbClr val="F1FAEE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1BAC3C2-FD51-FD86-E692-68710E03D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587" y="2298090"/>
                <a:ext cx="17112997" cy="10967105"/>
              </a:xfrm>
              <a:prstGeom prst="rect">
                <a:avLst/>
              </a:prstGeom>
              <a:blipFill>
                <a:blip r:embed="rId2"/>
                <a:stretch>
                  <a:fillRect l="-891" t="-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E751961-4B4C-DF31-7271-78DC27D3A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150" y="6265066"/>
            <a:ext cx="6920617" cy="2209800"/>
          </a:xfrm>
          <a:prstGeom prst="rect">
            <a:avLst/>
          </a:prstGeom>
        </p:spPr>
      </p:pic>
      <p:sp>
        <p:nvSpPr>
          <p:cNvPr id="8" name="Freeform 17">
            <a:extLst>
              <a:ext uri="{FF2B5EF4-FFF2-40B4-BE49-F238E27FC236}">
                <a16:creationId xmlns:a16="http://schemas.microsoft.com/office/drawing/2014/main" id="{437D94A0-7367-41E6-8D39-DDDFE5E4AF40}"/>
              </a:ext>
            </a:extLst>
          </p:cNvPr>
          <p:cNvSpPr/>
          <p:nvPr/>
        </p:nvSpPr>
        <p:spPr>
          <a:xfrm>
            <a:off x="892000" y="1028699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1ED06F0E-8955-46E1-91BD-A6304B68E673}"/>
              </a:ext>
            </a:extLst>
          </p:cNvPr>
          <p:cNvSpPr/>
          <p:nvPr/>
        </p:nvSpPr>
        <p:spPr>
          <a:xfrm rot="5400000">
            <a:off x="16981525" y="8804192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EF9443A0-61C9-86DA-698E-93C6175AE41D}"/>
              </a:ext>
            </a:extLst>
          </p:cNvPr>
          <p:cNvGrpSpPr/>
          <p:nvPr/>
        </p:nvGrpSpPr>
        <p:grpSpPr>
          <a:xfrm>
            <a:off x="11041150" y="8693569"/>
            <a:ext cx="950592" cy="94268"/>
            <a:chOff x="0" y="0"/>
            <a:chExt cx="1536796" cy="152400"/>
          </a:xfrm>
        </p:grpSpPr>
        <p:sp>
          <p:nvSpPr>
            <p:cNvPr id="4" name="Freeform 21">
              <a:extLst>
                <a:ext uri="{FF2B5EF4-FFF2-40B4-BE49-F238E27FC236}">
                  <a16:creationId xmlns:a16="http://schemas.microsoft.com/office/drawing/2014/main" id="{F1BC3E1F-5F45-43EE-7C38-3C417AF57802}"/>
                </a:ext>
              </a:extLst>
            </p:cNvPr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760C4284-AC4C-C980-4B69-CF1E8F9E1607}"/>
              </a:ext>
            </a:extLst>
          </p:cNvPr>
          <p:cNvGrpSpPr/>
          <p:nvPr/>
        </p:nvGrpSpPr>
        <p:grpSpPr>
          <a:xfrm rot="10800000">
            <a:off x="11227818" y="8914859"/>
            <a:ext cx="577256" cy="131239"/>
            <a:chOff x="0" y="0"/>
            <a:chExt cx="929657" cy="152400"/>
          </a:xfrm>
        </p:grpSpPr>
        <p:sp>
          <p:nvSpPr>
            <p:cNvPr id="6" name="Freeform 19">
              <a:extLst>
                <a:ext uri="{FF2B5EF4-FFF2-40B4-BE49-F238E27FC236}">
                  <a16:creationId xmlns:a16="http://schemas.microsoft.com/office/drawing/2014/main" id="{EA205DB6-B6A9-2C97-D36B-3159EBDFB325}"/>
                </a:ext>
              </a:extLst>
            </p:cNvPr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934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CF23E6-368B-4471-86E0-F8F3A8ECE87A}"/>
              </a:ext>
            </a:extLst>
          </p:cNvPr>
          <p:cNvSpPr/>
          <p:nvPr/>
        </p:nvSpPr>
        <p:spPr>
          <a:xfrm>
            <a:off x="-1" y="-17676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2">
            <a:extLst>
              <a:ext uri="{FF2B5EF4-FFF2-40B4-BE49-F238E27FC236}">
                <a16:creationId xmlns:a16="http://schemas.microsoft.com/office/drawing/2014/main" id="{5CDEF40F-C734-44A9-BA27-3AF94054B83B}"/>
              </a:ext>
            </a:extLst>
          </p:cNvPr>
          <p:cNvGrpSpPr/>
          <p:nvPr/>
        </p:nvGrpSpPr>
        <p:grpSpPr>
          <a:xfrm>
            <a:off x="9296400" y="-17676"/>
            <a:ext cx="9050760" cy="1749093"/>
            <a:chOff x="0" y="0"/>
            <a:chExt cx="7143766" cy="2486093"/>
          </a:xfrm>
        </p:grpSpPr>
        <p:sp>
          <p:nvSpPr>
            <p:cNvPr id="12" name="AutoShape 13">
              <a:extLst>
                <a:ext uri="{FF2B5EF4-FFF2-40B4-BE49-F238E27FC236}">
                  <a16:creationId xmlns:a16="http://schemas.microsoft.com/office/drawing/2014/main" id="{0652F317-5AED-456C-9CF6-B60405A124B9}"/>
                </a:ext>
              </a:extLst>
            </p:cNvPr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43011" y="1842251"/>
            <a:ext cx="12144389" cy="1594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517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F1FAEE"/>
                </a:solidFill>
              </a:rPr>
              <a:t>Testing the extent of Procrastination between those who play sports vs those who don’t.</a:t>
            </a:r>
            <a:endParaRPr lang="en-US" sz="4400" b="1" u="none" dirty="0">
              <a:solidFill>
                <a:srgbClr val="F1FAEE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870B25-93F2-A7F3-C764-B6583EEBB0F5}"/>
              </a:ext>
            </a:extLst>
          </p:cNvPr>
          <p:cNvSpPr txBox="1"/>
          <p:nvPr/>
        </p:nvSpPr>
        <p:spPr>
          <a:xfrm>
            <a:off x="955810" y="7908346"/>
            <a:ext cx="163763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Inference</a:t>
            </a:r>
            <a:r>
              <a:rPr lang="en-US" sz="3200" dirty="0">
                <a:solidFill>
                  <a:schemeClr val="bg1"/>
                </a:solidFill>
              </a:rPr>
              <a:t>: The proportion of people who procrastinate often among those who play sports often is equal to the proportion of people who procrastinate often among those that play sports rarely.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9582BEB6-4398-1792-5AE3-619D028EF5CA}"/>
              </a:ext>
            </a:extLst>
          </p:cNvPr>
          <p:cNvSpPr txBox="1"/>
          <p:nvPr/>
        </p:nvSpPr>
        <p:spPr>
          <a:xfrm>
            <a:off x="2133600" y="4233200"/>
            <a:ext cx="8718426" cy="2878352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H</a:t>
            </a:r>
            <a:r>
              <a:rPr lang="en-US" sz="3200" b="1" baseline="-25000" dirty="0">
                <a:solidFill>
                  <a:srgbClr val="F1FAEE"/>
                </a:solidFill>
              </a:rPr>
              <a:t>0</a:t>
            </a:r>
            <a:r>
              <a:rPr lang="en-US" sz="3200" dirty="0">
                <a:solidFill>
                  <a:srgbClr val="F1FAEE"/>
                </a:solidFill>
              </a:rPr>
              <a:t>  :   P 1 = P2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H</a:t>
            </a:r>
            <a:r>
              <a:rPr lang="en-US" sz="3200" b="1" baseline="-25000" dirty="0">
                <a:solidFill>
                  <a:srgbClr val="F1FAEE"/>
                </a:solidFill>
              </a:rPr>
              <a:t>1</a:t>
            </a:r>
            <a:r>
              <a:rPr lang="en-US" sz="3200" dirty="0">
                <a:solidFill>
                  <a:srgbClr val="F1FAEE"/>
                </a:solidFill>
              </a:rPr>
              <a:t>   :  P 1 &lt; P2 </a:t>
            </a:r>
          </a:p>
          <a:p>
            <a:pPr>
              <a:lnSpc>
                <a:spcPct val="150000"/>
              </a:lnSpc>
            </a:pPr>
            <a:r>
              <a:rPr lang="el-GR" sz="3200" b="1" i="0" dirty="0">
                <a:solidFill>
                  <a:schemeClr val="bg1"/>
                </a:solidFill>
                <a:effectLst/>
              </a:rPr>
              <a:t>α</a:t>
            </a:r>
            <a:r>
              <a:rPr lang="en-US" sz="32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3200" i="0" dirty="0">
                <a:solidFill>
                  <a:schemeClr val="bg1"/>
                </a:solidFill>
                <a:effectLst/>
              </a:rPr>
              <a:t>= 0.05 (significance level)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Z </a:t>
            </a:r>
            <a:r>
              <a:rPr lang="en-US" sz="3200" i="0" dirty="0">
                <a:solidFill>
                  <a:schemeClr val="bg1"/>
                </a:solidFill>
                <a:effectLst/>
              </a:rPr>
              <a:t>= 0.95 (confidence leve</a:t>
            </a:r>
            <a:r>
              <a:rPr lang="en-US" sz="3200" dirty="0">
                <a:solidFill>
                  <a:schemeClr val="bg1"/>
                </a:solidFill>
              </a:rPr>
              <a:t>l</a:t>
            </a:r>
            <a:r>
              <a:rPr lang="en-US" sz="3200" b="1" dirty="0">
                <a:solidFill>
                  <a:schemeClr val="bg1"/>
                </a:solidFill>
              </a:rPr>
              <a:t>)</a:t>
            </a:r>
            <a:endParaRPr lang="en-US" sz="3200" b="1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47C97F-CA3E-2F22-5790-C798A5A61F59}"/>
              </a:ext>
            </a:extLst>
          </p:cNvPr>
          <p:cNvSpPr txBox="1"/>
          <p:nvPr/>
        </p:nvSpPr>
        <p:spPr>
          <a:xfrm>
            <a:off x="9769056" y="4518265"/>
            <a:ext cx="8105448" cy="2232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3200" b="1" dirty="0" err="1">
                <a:solidFill>
                  <a:srgbClr val="F1FAEE"/>
                </a:solidFill>
              </a:rPr>
              <a:t>Z</a:t>
            </a:r>
            <a:r>
              <a:rPr lang="en-US" sz="3200" b="1" baseline="-25000" dirty="0" err="1">
                <a:solidFill>
                  <a:srgbClr val="F1FAEE"/>
                </a:solidFill>
              </a:rPr>
              <a:t>cal</a:t>
            </a:r>
            <a:r>
              <a:rPr lang="en-US" sz="3200" b="1" baseline="-25000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= -1.19 ( After calculation)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1FAEE"/>
                </a:solidFill>
              </a:rPr>
              <a:t>Z</a:t>
            </a:r>
            <a:r>
              <a:rPr lang="el-GR" sz="3200" b="1" i="0" baseline="-25000" dirty="0">
                <a:solidFill>
                  <a:schemeClr val="bg1"/>
                </a:solidFill>
                <a:effectLst/>
              </a:rPr>
              <a:t>α</a:t>
            </a:r>
            <a:r>
              <a:rPr lang="en-US" sz="32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3200" b="1" dirty="0">
                <a:solidFill>
                  <a:srgbClr val="F1FAEE"/>
                </a:solidFill>
              </a:rPr>
              <a:t> </a:t>
            </a:r>
            <a:r>
              <a:rPr lang="en-US" sz="3200" dirty="0">
                <a:solidFill>
                  <a:srgbClr val="F1FAEE"/>
                </a:solidFill>
              </a:rPr>
              <a:t>= 1.645 (one tailed)</a:t>
            </a:r>
          </a:p>
          <a:p>
            <a:pPr>
              <a:lnSpc>
                <a:spcPct val="150000"/>
              </a:lnSpc>
            </a:pPr>
            <a:r>
              <a:rPr lang="en-US" sz="3200" kern="12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n-US" sz="3200" kern="1200" baseline="-25000" dirty="0" err="1">
                <a:solidFill>
                  <a:srgbClr val="F1FAEE"/>
                </a:solidFill>
                <a:effectLst/>
                <a:ea typeface="+mn-ea"/>
                <a:cs typeface="+mn-cs"/>
              </a:rPr>
              <a:t>cal</a:t>
            </a: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  &gt;</a:t>
            </a:r>
            <a:r>
              <a:rPr lang="en-US" sz="3200" dirty="0">
                <a:solidFill>
                  <a:srgbClr val="F1FAEE"/>
                </a:solidFill>
              </a:rPr>
              <a:t>  </a:t>
            </a:r>
            <a:r>
              <a:rPr lang="en-US" sz="3200" kern="1200" dirty="0">
                <a:solidFill>
                  <a:srgbClr val="F1FAEE"/>
                </a:solidFill>
                <a:effectLst/>
                <a:ea typeface="+mn-ea"/>
                <a:cs typeface="+mn-cs"/>
              </a:rPr>
              <a:t>Z</a:t>
            </a:r>
            <a:r>
              <a:rPr lang="el-GR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α</a:t>
            </a:r>
            <a:r>
              <a:rPr lang="en-US" sz="3200" i="0" kern="1200" baseline="-25000" dirty="0">
                <a:solidFill>
                  <a:srgbClr val="FFFFFF"/>
                </a:solidFill>
                <a:effectLst/>
                <a:ea typeface="+mn-ea"/>
                <a:cs typeface="+mn-cs"/>
              </a:rPr>
              <a:t>/2 </a:t>
            </a:r>
            <a:r>
              <a:rPr lang="en-US" sz="3200" b="1" i="0" kern="1200" dirty="0">
                <a:solidFill>
                  <a:srgbClr val="FFFFFF"/>
                </a:solidFill>
                <a:effectLst/>
                <a:ea typeface="+mn-ea"/>
                <a:cs typeface="+mn-cs"/>
              </a:rPr>
              <a:t>(False)</a:t>
            </a:r>
            <a:endParaRPr lang="en-US" sz="3200" b="1" dirty="0">
              <a:solidFill>
                <a:srgbClr val="F1FAEE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3C8AD3B-D505-A502-54F9-981B04BFB533}"/>
              </a:ext>
            </a:extLst>
          </p:cNvPr>
          <p:cNvCxnSpPr>
            <a:cxnSpLocks/>
          </p:cNvCxnSpPr>
          <p:nvPr/>
        </p:nvCxnSpPr>
        <p:spPr>
          <a:xfrm>
            <a:off x="8610600" y="4233200"/>
            <a:ext cx="0" cy="3231817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Freeform 17">
            <a:extLst>
              <a:ext uri="{FF2B5EF4-FFF2-40B4-BE49-F238E27FC236}">
                <a16:creationId xmlns:a16="http://schemas.microsoft.com/office/drawing/2014/main" id="{7EBA3411-1FEC-48D4-9093-0964C5BA3883}"/>
              </a:ext>
            </a:extLst>
          </p:cNvPr>
          <p:cNvSpPr/>
          <p:nvPr/>
        </p:nvSpPr>
        <p:spPr>
          <a:xfrm>
            <a:off x="892000" y="1028699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D0F910-43C8-44BA-8088-BE7C35C187EC}"/>
              </a:ext>
            </a:extLst>
          </p:cNvPr>
          <p:cNvSpPr txBox="1"/>
          <p:nvPr/>
        </p:nvSpPr>
        <p:spPr>
          <a:xfrm flipH="1">
            <a:off x="10350103" y="283763"/>
            <a:ext cx="7239000" cy="120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8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# 6  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endParaRPr lang="en-US" dirty="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04F5F9F2-DFDF-45CC-9A53-6952CC25674C}"/>
              </a:ext>
            </a:extLst>
          </p:cNvPr>
          <p:cNvSpPr/>
          <p:nvPr/>
        </p:nvSpPr>
        <p:spPr>
          <a:xfrm rot="10590354">
            <a:off x="16832744" y="8965874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E4E87B01-1DA7-B143-9C81-853D16191F1D}"/>
              </a:ext>
            </a:extLst>
          </p:cNvPr>
          <p:cNvGrpSpPr/>
          <p:nvPr/>
        </p:nvGrpSpPr>
        <p:grpSpPr>
          <a:xfrm>
            <a:off x="8135304" y="9404387"/>
            <a:ext cx="950592" cy="94268"/>
            <a:chOff x="0" y="0"/>
            <a:chExt cx="1536796" cy="152400"/>
          </a:xfrm>
        </p:grpSpPr>
        <p:sp>
          <p:nvSpPr>
            <p:cNvPr id="3" name="Freeform 21">
              <a:extLst>
                <a:ext uri="{FF2B5EF4-FFF2-40B4-BE49-F238E27FC236}">
                  <a16:creationId xmlns:a16="http://schemas.microsoft.com/office/drawing/2014/main" id="{02EA65F2-D21F-C82F-0F7C-35A5CCEA7A77}"/>
                </a:ext>
              </a:extLst>
            </p:cNvPr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F7F05AFB-B93C-E38C-4FE2-04A621DDBFF6}"/>
              </a:ext>
            </a:extLst>
          </p:cNvPr>
          <p:cNvGrpSpPr/>
          <p:nvPr/>
        </p:nvGrpSpPr>
        <p:grpSpPr>
          <a:xfrm rot="10800000">
            <a:off x="8321972" y="9670572"/>
            <a:ext cx="577256" cy="131239"/>
            <a:chOff x="0" y="0"/>
            <a:chExt cx="929657" cy="152400"/>
          </a:xfrm>
        </p:grpSpPr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E8188FFA-ECDB-83BA-5BD3-399D1985E43F}"/>
                </a:ext>
              </a:extLst>
            </p:cNvPr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01634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9326C0-B344-4663-A8D7-5E7F9CEABF3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2"/>
          <p:cNvGrpSpPr/>
          <p:nvPr/>
        </p:nvGrpSpPr>
        <p:grpSpPr>
          <a:xfrm>
            <a:off x="4114800" y="0"/>
            <a:ext cx="9246192" cy="1857947"/>
            <a:chOff x="0" y="0"/>
            <a:chExt cx="7143766" cy="2486093"/>
          </a:xfrm>
        </p:grpSpPr>
        <p:sp>
          <p:nvSpPr>
            <p:cNvPr id="13" name="AutoShape 13"/>
            <p:cNvSpPr/>
            <p:nvPr/>
          </p:nvSpPr>
          <p:spPr>
            <a:xfrm>
              <a:off x="0" y="0"/>
              <a:ext cx="7143766" cy="2486093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reeform 2"/>
          <p:cNvSpPr/>
          <p:nvPr/>
        </p:nvSpPr>
        <p:spPr>
          <a:xfrm rot="5400000">
            <a:off x="16868880" y="404041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872731" y="954047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8" name="Group 18"/>
          <p:cNvGrpSpPr/>
          <p:nvPr/>
        </p:nvGrpSpPr>
        <p:grpSpPr>
          <a:xfrm>
            <a:off x="794344" y="8916829"/>
            <a:ext cx="577256" cy="131239"/>
            <a:chOff x="0" y="0"/>
            <a:chExt cx="929657" cy="152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4344" y="9144784"/>
            <a:ext cx="950592" cy="94268"/>
            <a:chOff x="0" y="0"/>
            <a:chExt cx="1536796" cy="15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66B2E73-1295-4001-A72D-AB09C344FC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117" y="1823161"/>
            <a:ext cx="12229558" cy="75619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C79CA15-A4D3-4E9F-BBAC-0EF0CB7377E3}"/>
              </a:ext>
            </a:extLst>
          </p:cNvPr>
          <p:cNvSpPr txBox="1"/>
          <p:nvPr/>
        </p:nvSpPr>
        <p:spPr>
          <a:xfrm flipH="1">
            <a:off x="5376240" y="245835"/>
            <a:ext cx="12272190" cy="1204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Hypothesis</a:t>
            </a:r>
            <a:r>
              <a:rPr lang="en-US" sz="1800" u="none" dirty="0">
                <a:solidFill>
                  <a:schemeClr val="bg1"/>
                </a:solidFill>
                <a:latin typeface="Solomon Sans Heavy"/>
              </a:rPr>
              <a:t> </a:t>
            </a:r>
            <a:r>
              <a:rPr lang="en-US" sz="5430" u="none" dirty="0">
                <a:solidFill>
                  <a:schemeClr val="bg1"/>
                </a:solidFill>
                <a:latin typeface="Solomon Sans Heavy"/>
              </a:rPr>
              <a:t># 6  (Cont</a:t>
            </a:r>
            <a:r>
              <a:rPr lang="en-US" sz="5430" dirty="0">
                <a:solidFill>
                  <a:schemeClr val="bg1"/>
                </a:solidFill>
                <a:latin typeface="Solomon Sans Heavy"/>
              </a:rPr>
              <a:t>.)</a:t>
            </a:r>
            <a:endParaRPr lang="en-US" sz="5430" u="none" dirty="0">
              <a:solidFill>
                <a:schemeClr val="bg1"/>
              </a:solidFill>
              <a:latin typeface="Solomon Sans Heavy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568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56CFC07-092A-4BA1-A981-E6354562E42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2"/>
          <p:cNvSpPr/>
          <p:nvPr/>
        </p:nvSpPr>
        <p:spPr>
          <a:xfrm rot="5400000">
            <a:off x="16849002" y="9360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92034" y="1926812"/>
            <a:ext cx="6920437" cy="6797789"/>
            <a:chOff x="0" y="0"/>
            <a:chExt cx="9227250" cy="9063719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9227250" cy="9063719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79504" y="156557"/>
            <a:ext cx="8084757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Suggestions based on our statistical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0604" y="3112174"/>
            <a:ext cx="8747518" cy="4555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Clear Goal Setting: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Define specific objectives to provide a clear sense of purpose. Breaking down larger goals into manageable tasks enhances motivation and minimizes procrastination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endParaRPr lang="en-US" sz="3200" dirty="0">
              <a:solidFill>
                <a:schemeClr val="bg1"/>
              </a:solidFill>
            </a:endParaRPr>
          </a:p>
          <a:p>
            <a:r>
              <a:rPr lang="en-US" sz="3200" b="1" dirty="0">
                <a:solidFill>
                  <a:schemeClr val="bg1"/>
                </a:solidFill>
              </a:rPr>
              <a:t>Structured Timetable: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Develop a well-planned timetable, prioritizing tasks based on urgency and importance. This structured approach reduces the overwhelming nature of a workload and instills a sense of order.</a:t>
            </a:r>
            <a:endParaRPr lang="en-US" sz="3200" dirty="0">
              <a:solidFill>
                <a:schemeClr val="bg1"/>
              </a:solidFill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8858485" y="5627067"/>
            <a:ext cx="285515" cy="285515"/>
            <a:chOff x="0" y="0"/>
            <a:chExt cx="1913890" cy="1913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701722" y="628476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28700" y="8937233"/>
            <a:ext cx="575044" cy="94268"/>
            <a:chOff x="0" y="0"/>
            <a:chExt cx="929657" cy="152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0926" y="9164032"/>
            <a:ext cx="950592" cy="94268"/>
            <a:chOff x="0" y="0"/>
            <a:chExt cx="1536796" cy="152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775963BD-E5EE-4E97-B39A-DE32142219B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2598" r="10331" b="12272"/>
          <a:stretch/>
        </p:blipFill>
        <p:spPr>
          <a:xfrm>
            <a:off x="1180295" y="2246062"/>
            <a:ext cx="6346722" cy="6080390"/>
          </a:xfrm>
          <a:prstGeom prst="rect">
            <a:avLst/>
          </a:prstGeom>
        </p:spPr>
      </p:pic>
      <p:grpSp>
        <p:nvGrpSpPr>
          <p:cNvPr id="37" name="Group 11">
            <a:extLst>
              <a:ext uri="{FF2B5EF4-FFF2-40B4-BE49-F238E27FC236}">
                <a16:creationId xmlns:a16="http://schemas.microsoft.com/office/drawing/2014/main" id="{CFF232DB-7681-41E9-87AF-E7F32C039293}"/>
              </a:ext>
            </a:extLst>
          </p:cNvPr>
          <p:cNvGrpSpPr/>
          <p:nvPr/>
        </p:nvGrpSpPr>
        <p:grpSpPr>
          <a:xfrm>
            <a:off x="8858485" y="3256340"/>
            <a:ext cx="285515" cy="285515"/>
            <a:chOff x="0" y="0"/>
            <a:chExt cx="1913890" cy="1913890"/>
          </a:xfrm>
        </p:grpSpPr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47F35FD7-4E58-4884-A048-375A730409DD}"/>
                </a:ext>
              </a:extLst>
            </p:cNvPr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1B55D06-3C6B-46DB-97E2-4009BDEB34E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2"/>
          <p:cNvSpPr/>
          <p:nvPr/>
        </p:nvSpPr>
        <p:spPr>
          <a:xfrm rot="5400000">
            <a:off x="16849002" y="9360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92034" y="1926812"/>
            <a:ext cx="6920437" cy="6797789"/>
            <a:chOff x="0" y="0"/>
            <a:chExt cx="9227250" cy="9063719"/>
          </a:xfrm>
        </p:grpSpPr>
        <p:sp>
          <p:nvSpPr>
            <p:cNvPr id="4" name="AutoShape 4"/>
            <p:cNvSpPr/>
            <p:nvPr/>
          </p:nvSpPr>
          <p:spPr>
            <a:xfrm>
              <a:off x="0" y="0"/>
              <a:ext cx="9227250" cy="9063719"/>
            </a:xfrm>
            <a:prstGeom prst="rect">
              <a:avLst/>
            </a:prstGeom>
            <a:solidFill>
              <a:srgbClr val="457B9D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679504" y="156557"/>
            <a:ext cx="8084757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5431" dirty="0">
                <a:solidFill>
                  <a:srgbClr val="F1FAEE"/>
                </a:solidFill>
                <a:latin typeface="Solomon Sans Heavy"/>
              </a:rPr>
              <a:t>Suggestions based on our statistical analysis (Cont.)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43596" y="2759599"/>
            <a:ext cx="8747518" cy="6093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Adherence to Schedule:</a:t>
            </a:r>
          </a:p>
          <a:p>
            <a:r>
              <a:rPr lang="en-US" sz="3200" dirty="0">
                <a:solidFill>
                  <a:schemeClr val="bg1"/>
                </a:solidFill>
              </a:rPr>
              <a:t>Commit to following the established timetable with the same diligence as professional appointments. Consistent adherence builds productive habits, mitigating tendencies toward procrastination.</a:t>
            </a:r>
          </a:p>
          <a:p>
            <a:endParaRPr lang="en-US" sz="3600" dirty="0">
              <a:solidFill>
                <a:schemeClr val="bg1"/>
              </a:solidFill>
            </a:endParaRPr>
          </a:p>
          <a:p>
            <a:r>
              <a:rPr lang="en-US" sz="3600" b="1" dirty="0">
                <a:solidFill>
                  <a:schemeClr val="bg1"/>
                </a:solidFill>
              </a:rPr>
              <a:t>Group Collaboration:</a:t>
            </a:r>
          </a:p>
          <a:p>
            <a:r>
              <a:rPr lang="en-US" sz="3200" dirty="0">
                <a:solidFill>
                  <a:schemeClr val="bg1"/>
                </a:solidFill>
              </a:rPr>
              <a:t>Harness the power of collaboration to create accountability and support. Working in groups fosters shared goals, encouragement, and a sense of responsibility, making tasks more engaging and reducing the temptation to procrastinate.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856281" y="3009900"/>
            <a:ext cx="285515" cy="285515"/>
            <a:chOff x="0" y="0"/>
            <a:chExt cx="1913890" cy="19138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814424" y="5912582"/>
            <a:ext cx="285515" cy="285515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" name="Freeform 26"/>
          <p:cNvSpPr/>
          <p:nvPr/>
        </p:nvSpPr>
        <p:spPr>
          <a:xfrm>
            <a:off x="701722" y="628476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028700" y="8937233"/>
            <a:ext cx="575044" cy="94268"/>
            <a:chOff x="0" y="0"/>
            <a:chExt cx="929657" cy="152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0926" y="9164032"/>
            <a:ext cx="950592" cy="94268"/>
            <a:chOff x="0" y="0"/>
            <a:chExt cx="1536796" cy="152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775963BD-E5EE-4E97-B39A-DE32142219B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2598" r="10331" b="12272"/>
          <a:stretch/>
        </p:blipFill>
        <p:spPr>
          <a:xfrm>
            <a:off x="1180295" y="2246062"/>
            <a:ext cx="6346722" cy="608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99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2">
            <a:extLst>
              <a:ext uri="{FF2B5EF4-FFF2-40B4-BE49-F238E27FC236}">
                <a16:creationId xmlns:a16="http://schemas.microsoft.com/office/drawing/2014/main" id="{B2951459-573A-44FF-BE2E-0973725D76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4053504" y="272022"/>
            <a:ext cx="9823918" cy="9742955"/>
          </a:xfrm>
          <a:prstGeom prst="rect">
            <a:avLst/>
          </a:prstGeom>
          <a:effectLst>
            <a:reflection endPos="65000" dist="50800" dir="5400000" sy="-100000" algn="bl" rotWithShape="0"/>
          </a:effectLst>
        </p:spPr>
      </p:pic>
      <p:sp>
        <p:nvSpPr>
          <p:cNvPr id="30" name="TextBox 7">
            <a:extLst>
              <a:ext uri="{FF2B5EF4-FFF2-40B4-BE49-F238E27FC236}">
                <a16:creationId xmlns:a16="http://schemas.microsoft.com/office/drawing/2014/main" id="{E4805052-CE30-46F1-8A71-5A28A958212A}"/>
              </a:ext>
            </a:extLst>
          </p:cNvPr>
          <p:cNvSpPr txBox="1"/>
          <p:nvPr/>
        </p:nvSpPr>
        <p:spPr>
          <a:xfrm>
            <a:off x="6400800" y="4991100"/>
            <a:ext cx="7518568" cy="867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17"/>
              </a:lnSpc>
            </a:pPr>
            <a:r>
              <a:rPr lang="en-US" sz="8000" dirty="0">
                <a:solidFill>
                  <a:srgbClr val="F1FAEE"/>
                </a:solidFill>
                <a:latin typeface="Solomon Sans Heavy"/>
              </a:rPr>
              <a:t>Thank You </a:t>
            </a:r>
            <a:r>
              <a:rPr lang="en-US" sz="8000" dirty="0">
                <a:solidFill>
                  <a:srgbClr val="F1FAEE"/>
                </a:solidFill>
                <a:latin typeface="Solomon Sans Heavy"/>
                <a:sym typeface="Wingdings" panose="05000000000000000000" pitchFamily="2" charset="2"/>
              </a:rPr>
              <a:t></a:t>
            </a:r>
            <a:endParaRPr lang="en-US" sz="8000" dirty="0">
              <a:solidFill>
                <a:srgbClr val="F1FAEE"/>
              </a:solidFill>
              <a:latin typeface="Solomon Sans Heavy"/>
            </a:endParaRPr>
          </a:p>
        </p:txBody>
      </p:sp>
      <p:grpSp>
        <p:nvGrpSpPr>
          <p:cNvPr id="32" name="Group 20">
            <a:extLst>
              <a:ext uri="{FF2B5EF4-FFF2-40B4-BE49-F238E27FC236}">
                <a16:creationId xmlns:a16="http://schemas.microsoft.com/office/drawing/2014/main" id="{1D227341-E702-4217-BC0D-854A6619368A}"/>
              </a:ext>
            </a:extLst>
          </p:cNvPr>
          <p:cNvGrpSpPr/>
          <p:nvPr/>
        </p:nvGrpSpPr>
        <p:grpSpPr>
          <a:xfrm>
            <a:off x="3459986" y="9258300"/>
            <a:ext cx="950592" cy="94268"/>
            <a:chOff x="0" y="0"/>
            <a:chExt cx="1536796" cy="152400"/>
          </a:xfrm>
        </p:grpSpPr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55691AFF-7CC5-4390-A57E-A6D1CFE6A5E1}"/>
                </a:ext>
              </a:extLst>
            </p:cNvPr>
            <p:cNvSpPr/>
            <p:nvPr/>
          </p:nvSpPr>
          <p:spPr>
            <a:xfrm>
              <a:off x="0" y="0"/>
              <a:ext cx="1536796" cy="152400"/>
            </a:xfrm>
            <a:custGeom>
              <a:avLst/>
              <a:gdLst/>
              <a:ahLst/>
              <a:cxnLst/>
              <a:rect l="l" t="t" r="r" b="b"/>
              <a:pathLst>
                <a:path w="1536796" h="152400">
                  <a:moveTo>
                    <a:pt x="0" y="0"/>
                  </a:moveTo>
                  <a:lnTo>
                    <a:pt x="1536796" y="0"/>
                  </a:lnTo>
                  <a:lnTo>
                    <a:pt x="1536796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18">
            <a:extLst>
              <a:ext uri="{FF2B5EF4-FFF2-40B4-BE49-F238E27FC236}">
                <a16:creationId xmlns:a16="http://schemas.microsoft.com/office/drawing/2014/main" id="{CC404A93-6BDA-4A12-8EC7-A2A7C4978950}"/>
              </a:ext>
            </a:extLst>
          </p:cNvPr>
          <p:cNvGrpSpPr/>
          <p:nvPr/>
        </p:nvGrpSpPr>
        <p:grpSpPr>
          <a:xfrm>
            <a:off x="3476248" y="8953500"/>
            <a:ext cx="577256" cy="131239"/>
            <a:chOff x="0" y="0"/>
            <a:chExt cx="929657" cy="152400"/>
          </a:xfrm>
        </p:grpSpPr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330D6A03-17E7-4E96-84B1-012C48DB75C3}"/>
                </a:ext>
              </a:extLst>
            </p:cNvPr>
            <p:cNvSpPr/>
            <p:nvPr/>
          </p:nvSpPr>
          <p:spPr>
            <a:xfrm>
              <a:off x="0" y="0"/>
              <a:ext cx="929657" cy="152400"/>
            </a:xfrm>
            <a:custGeom>
              <a:avLst/>
              <a:gdLst/>
              <a:ahLst/>
              <a:cxnLst/>
              <a:rect l="l" t="t" r="r" b="b"/>
              <a:pathLst>
                <a:path w="929657" h="152400">
                  <a:moveTo>
                    <a:pt x="0" y="0"/>
                  </a:moveTo>
                  <a:lnTo>
                    <a:pt x="929657" y="0"/>
                  </a:lnTo>
                  <a:lnTo>
                    <a:pt x="92965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F1FAE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Freeform 17">
            <a:extLst>
              <a:ext uri="{FF2B5EF4-FFF2-40B4-BE49-F238E27FC236}">
                <a16:creationId xmlns:a16="http://schemas.microsoft.com/office/drawing/2014/main" id="{56AF291F-C76A-4B27-A434-C0E380A7B712}"/>
              </a:ext>
            </a:extLst>
          </p:cNvPr>
          <p:cNvSpPr/>
          <p:nvPr/>
        </p:nvSpPr>
        <p:spPr>
          <a:xfrm>
            <a:off x="3151482" y="954048"/>
            <a:ext cx="902022" cy="225506"/>
          </a:xfrm>
          <a:custGeom>
            <a:avLst/>
            <a:gdLst/>
            <a:ahLst/>
            <a:cxnLst/>
            <a:rect l="l" t="t" r="r" b="b"/>
            <a:pathLst>
              <a:path w="902022" h="225506">
                <a:moveTo>
                  <a:pt x="0" y="0"/>
                </a:moveTo>
                <a:lnTo>
                  <a:pt x="902022" y="0"/>
                </a:lnTo>
                <a:lnTo>
                  <a:pt x="902022" y="225506"/>
                </a:lnTo>
                <a:lnTo>
                  <a:pt x="0" y="2255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2">
            <a:extLst>
              <a:ext uri="{FF2B5EF4-FFF2-40B4-BE49-F238E27FC236}">
                <a16:creationId xmlns:a16="http://schemas.microsoft.com/office/drawing/2014/main" id="{537CD37E-EAE7-4847-9A96-03AA774B8937}"/>
              </a:ext>
            </a:extLst>
          </p:cNvPr>
          <p:cNvSpPr/>
          <p:nvPr/>
        </p:nvSpPr>
        <p:spPr>
          <a:xfrm rot="5400000">
            <a:off x="13636528" y="741300"/>
            <a:ext cx="1512719" cy="1325520"/>
          </a:xfrm>
          <a:custGeom>
            <a:avLst/>
            <a:gdLst/>
            <a:ahLst/>
            <a:cxnLst/>
            <a:rect l="l" t="t" r="r" b="b"/>
            <a:pathLst>
              <a:path w="1512719" h="1325520">
                <a:moveTo>
                  <a:pt x="0" y="0"/>
                </a:moveTo>
                <a:lnTo>
                  <a:pt x="1512720" y="0"/>
                </a:lnTo>
                <a:lnTo>
                  <a:pt x="1512720" y="1325520"/>
                </a:lnTo>
                <a:lnTo>
                  <a:pt x="0" y="1325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1127</Words>
  <Application>Microsoft Office PowerPoint</Application>
  <PresentationFormat>Custom</PresentationFormat>
  <Paragraphs>140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Solomon Sans Heavy</vt:lpstr>
      <vt:lpstr>Cambria Math</vt:lpstr>
      <vt:lpstr>Calibri</vt:lpstr>
      <vt:lpstr>Comic Sans MS</vt:lpstr>
      <vt:lpstr>Glacial Indifference</vt:lpstr>
      <vt:lpstr>Wingdings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Minimalist Life Guide Presentation</dc:title>
  <dc:creator>fatima</dc:creator>
  <cp:lastModifiedBy>fatima zaidi</cp:lastModifiedBy>
  <cp:revision>59</cp:revision>
  <dcterms:created xsi:type="dcterms:W3CDTF">2006-08-16T00:00:00Z</dcterms:created>
  <dcterms:modified xsi:type="dcterms:W3CDTF">2023-12-17T17:26:39Z</dcterms:modified>
  <dc:identifier>DAF3H9ma8ro</dc:identifier>
</cp:coreProperties>
</file>